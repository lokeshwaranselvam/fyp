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5" r:id="rId5"/>
    <p:sldId id="276" r:id="rId6"/>
    <p:sldId id="277" r:id="rId7"/>
    <p:sldId id="259" r:id="rId8"/>
    <p:sldId id="260" r:id="rId9"/>
    <p:sldId id="261" r:id="rId10"/>
    <p:sldId id="262" r:id="rId11"/>
    <p:sldId id="263" r:id="rId12"/>
    <p:sldId id="274" r:id="rId13"/>
    <p:sldId id="265" r:id="rId14"/>
    <p:sldId id="266" r:id="rId15"/>
    <p:sldId id="271" r:id="rId16"/>
    <p:sldId id="272" r:id="rId17"/>
    <p:sldId id="273" r:id="rId18"/>
  </p:sldIdLst>
  <p:sldSz cx="10160000" cy="7620000"/>
  <p:notesSz cx="10160000" cy="7620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4600"/>
    <a:srgbClr val="3366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694"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62476" y="2362200"/>
            <a:ext cx="8641398" cy="1600200"/>
          </a:xfrm>
          <a:prstGeom prst="rect">
            <a:avLst/>
          </a:prstGeom>
        </p:spPr>
        <p:txBody>
          <a:bodyPr wrap="square" lIns="0" tIns="0" rIns="0" bIns="0">
            <a:spAutoFit/>
          </a:bodyPr>
          <a:lstStyle>
            <a:lvl1pPr>
              <a:defRPr sz="2000" b="1"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524952" y="4267200"/>
            <a:ext cx="7116445" cy="1905000"/>
          </a:xfrm>
          <a:prstGeom prst="rect">
            <a:avLst/>
          </a:prstGeom>
        </p:spPr>
        <p:txBody>
          <a:bodyPr wrap="square" lIns="0" tIns="0" rIns="0" bIns="0">
            <a:spAutoFit/>
          </a:bodyPr>
          <a:lstStyle>
            <a:lvl1pPr>
              <a:defRPr sz="15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5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508317" y="1752600"/>
            <a:ext cx="4422362" cy="502920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235670" y="1752600"/>
            <a:ext cx="4422362" cy="50292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0258" y="413131"/>
            <a:ext cx="4253280" cy="506349"/>
          </a:xfrm>
          <a:prstGeom prst="rect">
            <a:avLst/>
          </a:prstGeom>
        </p:spPr>
        <p:txBody>
          <a:bodyPr wrap="square" lIns="0" tIns="0" rIns="0" bIns="0">
            <a:spAutoFit/>
          </a:bodyPr>
          <a:lstStyle>
            <a:lvl1pPr>
              <a:defRPr sz="20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750519" y="1694434"/>
            <a:ext cx="8688070" cy="4446270"/>
          </a:xfrm>
          <a:prstGeom prst="rect">
            <a:avLst/>
          </a:prstGeom>
        </p:spPr>
        <p:txBody>
          <a:bodyPr wrap="square" lIns="0" tIns="0" rIns="0" bIns="0">
            <a:spAutoFit/>
          </a:bodyPr>
          <a:lstStyle>
            <a:lvl1pPr>
              <a:defRPr sz="15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456559" y="7086600"/>
            <a:ext cx="3253232" cy="3810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8317" y="7086600"/>
            <a:ext cx="2338260" cy="3810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a:xfrm>
            <a:off x="7319772" y="7086600"/>
            <a:ext cx="2338260" cy="3810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33375" y="5029543"/>
            <a:ext cx="68064" cy="2228850"/>
          </a:xfrm>
          <a:prstGeom prst="rect">
            <a:avLst/>
          </a:prstGeom>
        </p:spPr>
      </p:pic>
      <p:graphicFrame>
        <p:nvGraphicFramePr>
          <p:cNvPr id="3" name="object 3"/>
          <p:cNvGraphicFramePr>
            <a:graphicFrameLocks noGrp="1"/>
          </p:cNvGraphicFramePr>
          <p:nvPr>
            <p:extLst>
              <p:ext uri="{D42A27DB-BD31-4B8C-83A1-F6EECF244321}">
                <p14:modId xmlns:p14="http://schemas.microsoft.com/office/powerpoint/2010/main" val="482483598"/>
              </p:ext>
            </p:extLst>
          </p:nvPr>
        </p:nvGraphicFramePr>
        <p:xfrm>
          <a:off x="508000" y="5187102"/>
          <a:ext cx="9070999" cy="1663700"/>
        </p:xfrm>
        <a:graphic>
          <a:graphicData uri="http://schemas.openxmlformats.org/drawingml/2006/table">
            <a:tbl>
              <a:tblPr firstRow="1" bandRow="1">
                <a:tableStyleId>{2D5ABB26-0587-4C30-8999-92F81FD0307C}</a:tableStyleId>
              </a:tblPr>
              <a:tblGrid>
                <a:gridCol w="4724400">
                  <a:extLst>
                    <a:ext uri="{9D8B030D-6E8A-4147-A177-3AD203B41FA5}">
                      <a16:colId xmlns:a16="http://schemas.microsoft.com/office/drawing/2014/main" val="20000"/>
                    </a:ext>
                  </a:extLst>
                </a:gridCol>
                <a:gridCol w="2316336">
                  <a:extLst>
                    <a:ext uri="{9D8B030D-6E8A-4147-A177-3AD203B41FA5}">
                      <a16:colId xmlns:a16="http://schemas.microsoft.com/office/drawing/2014/main" val="20001"/>
                    </a:ext>
                  </a:extLst>
                </a:gridCol>
                <a:gridCol w="198264">
                  <a:extLst>
                    <a:ext uri="{9D8B030D-6E8A-4147-A177-3AD203B41FA5}">
                      <a16:colId xmlns:a16="http://schemas.microsoft.com/office/drawing/2014/main" val="20002"/>
                    </a:ext>
                  </a:extLst>
                </a:gridCol>
                <a:gridCol w="1831999">
                  <a:extLst>
                    <a:ext uri="{9D8B030D-6E8A-4147-A177-3AD203B41FA5}">
                      <a16:colId xmlns:a16="http://schemas.microsoft.com/office/drawing/2014/main" val="20003"/>
                    </a:ext>
                  </a:extLst>
                </a:gridCol>
              </a:tblGrid>
              <a:tr h="1207950">
                <a:tc>
                  <a:txBody>
                    <a:bodyPr/>
                    <a:lstStyle/>
                    <a:p>
                      <a:pPr marL="91440">
                        <a:lnSpc>
                          <a:spcPts val="2525"/>
                        </a:lnSpc>
                      </a:pPr>
                      <a:r>
                        <a:rPr sz="2400" spc="-10" dirty="0">
                          <a:solidFill>
                            <a:srgbClr val="234600"/>
                          </a:solidFill>
                          <a:latin typeface="Times New Roman"/>
                          <a:cs typeface="Times New Roman"/>
                        </a:rPr>
                        <a:t>Supervisor</a:t>
                      </a:r>
                      <a:endParaRPr sz="2400" dirty="0">
                        <a:solidFill>
                          <a:srgbClr val="234600"/>
                        </a:solidFill>
                        <a:latin typeface="Times New Roman"/>
                        <a:cs typeface="Times New Roman"/>
                      </a:endParaRPr>
                    </a:p>
                    <a:p>
                      <a:pPr marL="91440">
                        <a:lnSpc>
                          <a:spcPts val="2775"/>
                        </a:lnSpc>
                      </a:pPr>
                      <a:r>
                        <a:rPr lang="en-US" sz="2400" dirty="0" err="1">
                          <a:latin typeface="Times New Roman"/>
                          <a:cs typeface="Times New Roman"/>
                        </a:rPr>
                        <a:t>K.Maheshwari</a:t>
                      </a:r>
                      <a:r>
                        <a:rPr lang="en-US" sz="2400" dirty="0">
                          <a:latin typeface="Times New Roman"/>
                          <a:cs typeface="Times New Roman"/>
                        </a:rPr>
                        <a:t> </a:t>
                      </a:r>
                    </a:p>
                    <a:p>
                      <a:pPr marL="91440">
                        <a:lnSpc>
                          <a:spcPts val="2775"/>
                        </a:lnSpc>
                      </a:pPr>
                      <a:r>
                        <a:rPr lang="en-US" sz="2400" spc="-10" dirty="0">
                          <a:latin typeface="Times New Roman"/>
                          <a:cs typeface="Times New Roman"/>
                        </a:rPr>
                        <a:t>Head of the Department</a:t>
                      </a:r>
                    </a:p>
                    <a:p>
                      <a:pPr marL="91440" marR="0" indent="0" defTabSz="914400" eaLnBrk="1" fontAlgn="auto" latinLnBrk="0" hangingPunct="1">
                        <a:lnSpc>
                          <a:spcPts val="2775"/>
                        </a:lnSpc>
                        <a:spcBef>
                          <a:spcPts val="0"/>
                        </a:spcBef>
                        <a:spcAft>
                          <a:spcPts val="0"/>
                        </a:spcAft>
                        <a:buClrTx/>
                        <a:buSzTx/>
                        <a:buFontTx/>
                        <a:buNone/>
                        <a:tabLst/>
                        <a:defRPr/>
                      </a:pPr>
                      <a:r>
                        <a:rPr lang="en-US" sz="2400" spc="-35" dirty="0">
                          <a:latin typeface="Times New Roman"/>
                          <a:cs typeface="Times New Roman"/>
                        </a:rPr>
                        <a:t>AI&amp;DS</a:t>
                      </a:r>
                      <a:endParaRPr lang="en-US" sz="2400" dirty="0">
                        <a:latin typeface="Times New Roman"/>
                        <a:cs typeface="Times New Roman"/>
                      </a:endParaRPr>
                    </a:p>
                  </a:txBody>
                  <a:tcPr marL="0" marR="0" marT="0" marB="0"/>
                </a:tc>
                <a:tc>
                  <a:txBody>
                    <a:bodyPr/>
                    <a:lstStyle/>
                    <a:p>
                      <a:pPr marL="0" marR="607060" defTabSz="457200">
                        <a:lnSpc>
                          <a:spcPct val="100000"/>
                        </a:lnSpc>
                        <a:spcBef>
                          <a:spcPts val="600"/>
                        </a:spcBef>
                      </a:pPr>
                      <a:r>
                        <a:rPr lang="en-US" sz="2000" dirty="0" err="1">
                          <a:latin typeface="Times New Roman"/>
                          <a:cs typeface="Times New Roman"/>
                        </a:rPr>
                        <a:t>Ragavn</a:t>
                      </a:r>
                      <a:r>
                        <a:rPr lang="en-US" sz="2000" dirty="0">
                          <a:latin typeface="Times New Roman"/>
                          <a:cs typeface="Times New Roman"/>
                        </a:rPr>
                        <a:t> S</a:t>
                      </a:r>
                    </a:p>
                    <a:p>
                      <a:pPr marL="0" marR="607060" defTabSz="457200">
                        <a:lnSpc>
                          <a:spcPct val="100000"/>
                        </a:lnSpc>
                        <a:spcBef>
                          <a:spcPts val="600"/>
                        </a:spcBef>
                      </a:pPr>
                      <a:r>
                        <a:rPr lang="en-US" sz="2000" dirty="0">
                          <a:latin typeface="Times New Roman"/>
                          <a:cs typeface="Times New Roman"/>
                        </a:rPr>
                        <a:t>Lokeshwaran S</a:t>
                      </a:r>
                    </a:p>
                    <a:p>
                      <a:pPr marL="0" marR="607060" defTabSz="457200">
                        <a:lnSpc>
                          <a:spcPct val="100000"/>
                        </a:lnSpc>
                        <a:spcBef>
                          <a:spcPts val="600"/>
                        </a:spcBef>
                      </a:pPr>
                      <a:r>
                        <a:rPr lang="en-US" sz="2000" dirty="0" err="1">
                          <a:latin typeface="Times New Roman"/>
                          <a:cs typeface="Times New Roman"/>
                        </a:rPr>
                        <a:t>Josuva</a:t>
                      </a:r>
                      <a:r>
                        <a:rPr lang="en-US" sz="2000" dirty="0">
                          <a:latin typeface="Times New Roman"/>
                          <a:cs typeface="Times New Roman"/>
                        </a:rPr>
                        <a:t> PM</a:t>
                      </a:r>
                      <a:endParaRPr sz="2000" dirty="0">
                        <a:latin typeface="Times New Roman"/>
                        <a:cs typeface="Times New Roman"/>
                      </a:endParaRPr>
                    </a:p>
                  </a:txBody>
                  <a:tcPr marL="0" marR="0" marT="222250" marB="0"/>
                </a:tc>
                <a:tc>
                  <a:txBody>
                    <a:bodyPr/>
                    <a:lstStyle/>
                    <a:p>
                      <a:pPr algn="ctr" defTabSz="457200">
                        <a:lnSpc>
                          <a:spcPct val="100000"/>
                        </a:lnSpc>
                        <a:spcBef>
                          <a:spcPts val="600"/>
                        </a:spcBef>
                      </a:pPr>
                      <a:r>
                        <a:rPr lang="en-US" sz="2000" spc="-50" dirty="0">
                          <a:latin typeface="Times New Roman"/>
                          <a:cs typeface="Times New Roman"/>
                        </a:rPr>
                        <a:t>-</a:t>
                      </a:r>
                    </a:p>
                    <a:p>
                      <a:pPr algn="ctr" defTabSz="457200">
                        <a:lnSpc>
                          <a:spcPct val="100000"/>
                        </a:lnSpc>
                        <a:spcBef>
                          <a:spcPts val="600"/>
                        </a:spcBef>
                      </a:pPr>
                      <a:r>
                        <a:rPr lang="en-US" sz="2000" spc="-50" dirty="0">
                          <a:latin typeface="Times New Roman"/>
                          <a:cs typeface="Times New Roman"/>
                        </a:rPr>
                        <a:t>-</a:t>
                      </a:r>
                    </a:p>
                    <a:p>
                      <a:pPr algn="ctr" defTabSz="457200">
                        <a:lnSpc>
                          <a:spcPct val="100000"/>
                        </a:lnSpc>
                        <a:spcBef>
                          <a:spcPts val="600"/>
                        </a:spcBef>
                      </a:pPr>
                      <a:r>
                        <a:rPr lang="en-US" sz="2000" spc="-50" dirty="0">
                          <a:latin typeface="Times New Roman"/>
                          <a:cs typeface="Times New Roman"/>
                        </a:rPr>
                        <a:t>-</a:t>
                      </a:r>
                      <a:endParaRPr sz="2000" dirty="0">
                        <a:latin typeface="Times New Roman"/>
                        <a:cs typeface="Times New Roman"/>
                      </a:endParaRPr>
                    </a:p>
                  </a:txBody>
                  <a:tcPr marL="0" marR="0" marT="200025" marB="0"/>
                </a:tc>
                <a:tc>
                  <a:txBody>
                    <a:bodyPr/>
                    <a:lstStyle/>
                    <a:p>
                      <a:pPr marL="116839" defTabSz="457200">
                        <a:lnSpc>
                          <a:spcPts val="2340"/>
                        </a:lnSpc>
                        <a:spcBef>
                          <a:spcPts val="600"/>
                        </a:spcBef>
                      </a:pPr>
                      <a:r>
                        <a:rPr lang="en-US" sz="2000" dirty="0">
                          <a:latin typeface="Times New Roman"/>
                          <a:cs typeface="Times New Roman"/>
                        </a:rPr>
                        <a:t>821722243036</a:t>
                      </a:r>
                    </a:p>
                    <a:p>
                      <a:pPr marL="116839" marR="0" indent="0" defTabSz="457200" eaLnBrk="1" fontAlgn="auto" latinLnBrk="0" hangingPunct="1">
                        <a:lnSpc>
                          <a:spcPts val="2340"/>
                        </a:lnSpc>
                        <a:spcBef>
                          <a:spcPts val="600"/>
                        </a:spcBef>
                        <a:spcAft>
                          <a:spcPts val="0"/>
                        </a:spcAft>
                        <a:buClrTx/>
                        <a:buSzTx/>
                        <a:buFontTx/>
                        <a:buNone/>
                        <a:tabLst/>
                        <a:defRPr/>
                      </a:pPr>
                      <a:r>
                        <a:rPr lang="en-US" sz="2000" dirty="0">
                          <a:latin typeface="Times New Roman"/>
                          <a:cs typeface="Times New Roman"/>
                        </a:rPr>
                        <a:t>821722243025</a:t>
                      </a:r>
                    </a:p>
                    <a:p>
                      <a:pPr marL="116839" marR="0" indent="0" defTabSz="457200" eaLnBrk="1" fontAlgn="auto" latinLnBrk="0" hangingPunct="1">
                        <a:lnSpc>
                          <a:spcPts val="2340"/>
                        </a:lnSpc>
                        <a:spcBef>
                          <a:spcPts val="600"/>
                        </a:spcBef>
                        <a:spcAft>
                          <a:spcPts val="0"/>
                        </a:spcAft>
                        <a:buClrTx/>
                        <a:buSzTx/>
                        <a:buFontTx/>
                        <a:buNone/>
                        <a:tabLst/>
                        <a:defRPr/>
                      </a:pPr>
                      <a:r>
                        <a:rPr lang="en-US" sz="2000" dirty="0">
                          <a:latin typeface="Times New Roman"/>
                          <a:cs typeface="Times New Roman"/>
                        </a:rPr>
                        <a:t>821722243020</a:t>
                      </a:r>
                    </a:p>
                  </a:txBody>
                  <a:tcPr marL="0" marR="0" marT="200025" marB="0"/>
                </a:tc>
                <a:extLst>
                  <a:ext uri="{0D108BD9-81ED-4DB2-BD59-A6C34878D82A}">
                    <a16:rowId xmlns:a16="http://schemas.microsoft.com/office/drawing/2014/main" val="10000"/>
                  </a:ext>
                </a:extLst>
              </a:tr>
              <a:tr h="234348">
                <a:tc>
                  <a:txBody>
                    <a:bodyPr/>
                    <a:lstStyle/>
                    <a:p>
                      <a:pPr marL="0">
                        <a:lnSpc>
                          <a:spcPts val="2170"/>
                        </a:lnSpc>
                      </a:pPr>
                      <a:endParaRPr sz="2000" dirty="0">
                        <a:latin typeface="Times New Roman"/>
                        <a:cs typeface="Times New Roman"/>
                      </a:endParaRPr>
                    </a:p>
                  </a:txBody>
                  <a:tcPr marL="0" marR="0" marT="0" marB="0"/>
                </a:tc>
                <a:tc>
                  <a:txBody>
                    <a:bodyPr/>
                    <a:lstStyle/>
                    <a:p>
                      <a:pPr marL="1196340">
                        <a:lnSpc>
                          <a:spcPts val="2170"/>
                        </a:lnSpc>
                      </a:pPr>
                      <a:endParaRPr sz="2000" dirty="0">
                        <a:latin typeface="Times New Roman"/>
                        <a:cs typeface="Times New Roman"/>
                      </a:endParaRPr>
                    </a:p>
                  </a:txBody>
                  <a:tcPr marL="0" marR="0" marT="0" marB="0"/>
                </a:tc>
                <a:tc>
                  <a:txBody>
                    <a:bodyPr/>
                    <a:lstStyle/>
                    <a:p>
                      <a:pPr marR="13335" algn="ctr">
                        <a:lnSpc>
                          <a:spcPts val="2170"/>
                        </a:lnSpc>
                      </a:pPr>
                      <a:endParaRPr sz="2000" dirty="0">
                        <a:latin typeface="Times New Roman"/>
                        <a:cs typeface="Times New Roman"/>
                      </a:endParaRPr>
                    </a:p>
                  </a:txBody>
                  <a:tcPr marL="0" marR="0" marT="0" marB="0"/>
                </a:tc>
                <a:tc>
                  <a:txBody>
                    <a:bodyPr/>
                    <a:lstStyle/>
                    <a:p>
                      <a:pPr marL="107314">
                        <a:lnSpc>
                          <a:spcPts val="2170"/>
                        </a:lnSpc>
                      </a:pPr>
                      <a:endParaRPr sz="2000" dirty="0">
                        <a:latin typeface="Times New Roman"/>
                        <a:cs typeface="Times New Roman"/>
                      </a:endParaRPr>
                    </a:p>
                  </a:txBody>
                  <a:tcPr marL="0" marR="0" marT="0" marB="0"/>
                </a:tc>
                <a:extLst>
                  <a:ext uri="{0D108BD9-81ED-4DB2-BD59-A6C34878D82A}">
                    <a16:rowId xmlns:a16="http://schemas.microsoft.com/office/drawing/2014/main" val="10001"/>
                  </a:ext>
                </a:extLst>
              </a:tr>
            </a:tbl>
          </a:graphicData>
        </a:graphic>
      </p:graphicFrame>
      <p:pic>
        <p:nvPicPr>
          <p:cNvPr id="4" name="object 4"/>
          <p:cNvPicPr/>
          <p:nvPr/>
        </p:nvPicPr>
        <p:blipFill>
          <a:blip r:embed="rId2" cstate="print"/>
          <a:stretch>
            <a:fillRect/>
          </a:stretch>
        </p:blipFill>
        <p:spPr>
          <a:xfrm>
            <a:off x="9734367" y="5096052"/>
            <a:ext cx="68062" cy="2228850"/>
          </a:xfrm>
          <a:prstGeom prst="rect">
            <a:avLst/>
          </a:prstGeom>
        </p:spPr>
      </p:pic>
      <p:sp>
        <p:nvSpPr>
          <p:cNvPr id="5" name="object 5"/>
          <p:cNvSpPr txBox="1"/>
          <p:nvPr/>
        </p:nvSpPr>
        <p:spPr>
          <a:xfrm>
            <a:off x="4851400" y="4855632"/>
            <a:ext cx="1714500" cy="331470"/>
          </a:xfrm>
          <a:prstGeom prst="rect">
            <a:avLst/>
          </a:prstGeom>
        </p:spPr>
        <p:txBody>
          <a:bodyPr vert="horz" wrap="square" lIns="0" tIns="13335" rIns="0" bIns="0" rtlCol="0">
            <a:spAutoFit/>
          </a:bodyPr>
          <a:lstStyle/>
          <a:p>
            <a:pPr marL="12700">
              <a:lnSpc>
                <a:spcPct val="100000"/>
              </a:lnSpc>
              <a:spcBef>
                <a:spcPts val="105"/>
              </a:spcBef>
            </a:pPr>
            <a:r>
              <a:rPr sz="2000" spc="-10" dirty="0">
                <a:solidFill>
                  <a:srgbClr val="234600"/>
                </a:solidFill>
                <a:latin typeface="Times New Roman"/>
                <a:cs typeface="Times New Roman"/>
              </a:rPr>
              <a:t>Team</a:t>
            </a:r>
            <a:r>
              <a:rPr sz="2000" spc="-90" dirty="0">
                <a:solidFill>
                  <a:srgbClr val="234600"/>
                </a:solidFill>
                <a:latin typeface="Times New Roman"/>
                <a:cs typeface="Times New Roman"/>
              </a:rPr>
              <a:t> </a:t>
            </a:r>
            <a:r>
              <a:rPr sz="2000" dirty="0">
                <a:solidFill>
                  <a:srgbClr val="234600"/>
                </a:solidFill>
                <a:latin typeface="Times New Roman"/>
                <a:cs typeface="Times New Roman"/>
              </a:rPr>
              <a:t>members</a:t>
            </a:r>
            <a:r>
              <a:rPr sz="2000" spc="-75" dirty="0">
                <a:solidFill>
                  <a:srgbClr val="234600"/>
                </a:solidFill>
                <a:latin typeface="Times New Roman"/>
                <a:cs typeface="Times New Roman"/>
              </a:rPr>
              <a:t> </a:t>
            </a:r>
            <a:r>
              <a:rPr sz="2000" spc="-50" dirty="0">
                <a:solidFill>
                  <a:srgbClr val="4F6028"/>
                </a:solidFill>
                <a:latin typeface="Times New Roman"/>
                <a:cs typeface="Times New Roman"/>
              </a:rPr>
              <a:t>:</a:t>
            </a:r>
            <a:endParaRPr sz="2000" dirty="0">
              <a:latin typeface="Times New Roman"/>
              <a:cs typeface="Times New Roman"/>
            </a:endParaRPr>
          </a:p>
        </p:txBody>
      </p:sp>
      <p:sp>
        <p:nvSpPr>
          <p:cNvPr id="6" name="object 6"/>
          <p:cNvSpPr txBox="1"/>
          <p:nvPr/>
        </p:nvSpPr>
        <p:spPr>
          <a:xfrm>
            <a:off x="7137181" y="6994067"/>
            <a:ext cx="1981419" cy="320601"/>
          </a:xfrm>
          <a:prstGeom prst="rect">
            <a:avLst/>
          </a:prstGeom>
        </p:spPr>
        <p:txBody>
          <a:bodyPr vert="horz" wrap="square" lIns="0" tIns="12700" rIns="0" bIns="0" rtlCol="0">
            <a:spAutoFit/>
          </a:bodyPr>
          <a:lstStyle/>
          <a:p>
            <a:pPr marL="12700">
              <a:lnSpc>
                <a:spcPct val="100000"/>
              </a:lnSpc>
              <a:spcBef>
                <a:spcPts val="100"/>
              </a:spcBef>
            </a:pPr>
            <a:r>
              <a:rPr sz="2000" spc="-10" dirty="0">
                <a:latin typeface="Times New Roman"/>
                <a:cs typeface="Times New Roman"/>
              </a:rPr>
              <a:t>B.</a:t>
            </a:r>
            <a:r>
              <a:rPr lang="en-US" sz="2000" spc="-10" dirty="0">
                <a:latin typeface="Times New Roman"/>
                <a:cs typeface="Times New Roman"/>
              </a:rPr>
              <a:t>TECH-AI&amp;DS</a:t>
            </a:r>
            <a:endParaRPr sz="2000" dirty="0">
              <a:latin typeface="Times New Roman"/>
              <a:cs typeface="Times New Roman"/>
            </a:endParaRPr>
          </a:p>
        </p:txBody>
      </p:sp>
      <p:sp>
        <p:nvSpPr>
          <p:cNvPr id="7" name="object 7"/>
          <p:cNvSpPr txBox="1"/>
          <p:nvPr/>
        </p:nvSpPr>
        <p:spPr>
          <a:xfrm>
            <a:off x="846988" y="2140692"/>
            <a:ext cx="8732012" cy="702756"/>
          </a:xfrm>
          <a:prstGeom prst="rect">
            <a:avLst/>
          </a:prstGeom>
        </p:spPr>
        <p:txBody>
          <a:bodyPr vert="horz" wrap="square" lIns="0" tIns="12700" rIns="0" bIns="0" rtlCol="0">
            <a:spAutoFit/>
          </a:bodyPr>
          <a:lstStyle/>
          <a:p>
            <a:pPr marL="405765" marR="5080" indent="-393700" algn="ctr">
              <a:lnSpc>
                <a:spcPct val="100000"/>
              </a:lnSpc>
              <a:spcBef>
                <a:spcPts val="100"/>
              </a:spcBef>
            </a:pPr>
            <a:r>
              <a:rPr sz="2000" b="1" spc="-25" dirty="0">
                <a:solidFill>
                  <a:srgbClr val="234600"/>
                </a:solidFill>
                <a:latin typeface="Times New Roman"/>
                <a:cs typeface="Times New Roman"/>
              </a:rPr>
              <a:t>DEPARTMENT</a:t>
            </a:r>
            <a:r>
              <a:rPr sz="2000" b="1" spc="-50" dirty="0">
                <a:solidFill>
                  <a:srgbClr val="234600"/>
                </a:solidFill>
                <a:latin typeface="Times New Roman"/>
                <a:cs typeface="Times New Roman"/>
              </a:rPr>
              <a:t> </a:t>
            </a:r>
            <a:r>
              <a:rPr sz="2000" b="1" dirty="0">
                <a:solidFill>
                  <a:srgbClr val="234600"/>
                </a:solidFill>
                <a:latin typeface="Times New Roman"/>
                <a:cs typeface="Times New Roman"/>
              </a:rPr>
              <a:t>OF</a:t>
            </a:r>
            <a:r>
              <a:rPr sz="2000" b="1" spc="-80" dirty="0">
                <a:solidFill>
                  <a:srgbClr val="234600"/>
                </a:solidFill>
                <a:latin typeface="Times New Roman"/>
                <a:cs typeface="Times New Roman"/>
              </a:rPr>
              <a:t> </a:t>
            </a:r>
            <a:r>
              <a:rPr lang="en-US" sz="2000" b="1" spc="-25" dirty="0">
                <a:solidFill>
                  <a:srgbClr val="234600"/>
                </a:solidFill>
                <a:latin typeface="Times New Roman"/>
                <a:cs typeface="Times New Roman"/>
              </a:rPr>
              <a:t>ARTIFICIAL INTELLIGENCE AND DATA SCIENCE</a:t>
            </a:r>
          </a:p>
          <a:p>
            <a:pPr marL="405765" marR="5080" indent="-393700" algn="ctr">
              <a:lnSpc>
                <a:spcPct val="100000"/>
              </a:lnSpc>
              <a:spcBef>
                <a:spcPts val="100"/>
              </a:spcBef>
            </a:pPr>
            <a:r>
              <a:rPr sz="2400" b="1" spc="-25" dirty="0">
                <a:solidFill>
                  <a:srgbClr val="234600"/>
                </a:solidFill>
                <a:latin typeface="Times New Roman"/>
                <a:cs typeface="Times New Roman"/>
              </a:rPr>
              <a:t> </a:t>
            </a:r>
            <a:r>
              <a:rPr sz="2400" b="1" dirty="0">
                <a:solidFill>
                  <a:srgbClr val="234600"/>
                </a:solidFill>
                <a:latin typeface="Times New Roman"/>
                <a:cs typeface="Times New Roman"/>
              </a:rPr>
              <a:t>FIRST</a:t>
            </a:r>
            <a:r>
              <a:rPr sz="2400" b="1" spc="-60" dirty="0">
                <a:solidFill>
                  <a:srgbClr val="234600"/>
                </a:solidFill>
                <a:latin typeface="Times New Roman"/>
                <a:cs typeface="Times New Roman"/>
              </a:rPr>
              <a:t> </a:t>
            </a:r>
            <a:r>
              <a:rPr sz="2400" b="1" spc="-10" dirty="0">
                <a:solidFill>
                  <a:srgbClr val="234600"/>
                </a:solidFill>
                <a:latin typeface="Times New Roman"/>
                <a:cs typeface="Times New Roman"/>
              </a:rPr>
              <a:t>REVIEW</a:t>
            </a:r>
            <a:endParaRPr sz="2400" dirty="0">
              <a:solidFill>
                <a:srgbClr val="234600"/>
              </a:solidFill>
              <a:latin typeface="Times New Roman"/>
              <a:cs typeface="Times New Roman"/>
            </a:endParaRPr>
          </a:p>
        </p:txBody>
      </p:sp>
      <p:sp>
        <p:nvSpPr>
          <p:cNvPr id="8" name="object 8"/>
          <p:cNvSpPr txBox="1">
            <a:spLocks noGrp="1"/>
          </p:cNvSpPr>
          <p:nvPr>
            <p:ph type="title"/>
          </p:nvPr>
        </p:nvSpPr>
        <p:spPr>
          <a:xfrm>
            <a:off x="1447546" y="3413505"/>
            <a:ext cx="7528559" cy="330219"/>
          </a:xfrm>
          <a:prstGeom prst="rect">
            <a:avLst/>
          </a:prstGeom>
        </p:spPr>
        <p:txBody>
          <a:bodyPr vert="horz" wrap="square" lIns="0" tIns="47625" rIns="0" bIns="0" rtlCol="0">
            <a:spAutoFit/>
          </a:bodyPr>
          <a:lstStyle/>
          <a:p>
            <a:pPr marL="2012314" marR="5080" indent="-2000250" algn="ctr">
              <a:lnSpc>
                <a:spcPts val="2160"/>
              </a:lnSpc>
              <a:spcBef>
                <a:spcPts val="375"/>
              </a:spcBef>
            </a:pPr>
            <a:r>
              <a:rPr lang="en-US" sz="2800" dirty="0">
                <a:solidFill>
                  <a:srgbClr val="C00000"/>
                </a:solidFill>
              </a:rPr>
              <a:t>PROJECT TITLE</a:t>
            </a:r>
            <a:endParaRPr sz="2800" spc="-20" dirty="0">
              <a:solidFill>
                <a:srgbClr val="C00000"/>
              </a:solidFill>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375" y="266582"/>
            <a:ext cx="9547225" cy="15622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9168" y="372376"/>
            <a:ext cx="2926080" cy="508749"/>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688975">
              <a:lnSpc>
                <a:spcPct val="100000"/>
              </a:lnSpc>
              <a:spcBef>
                <a:spcPts val="100"/>
              </a:spcBef>
            </a:pPr>
            <a:r>
              <a:rPr spc="-10" dirty="0"/>
              <a:t>ABSTRACT</a:t>
            </a:r>
          </a:p>
        </p:txBody>
      </p:sp>
      <p:sp>
        <p:nvSpPr>
          <p:cNvPr id="4" name="TextBox 3">
            <a:extLst>
              <a:ext uri="{FF2B5EF4-FFF2-40B4-BE49-F238E27FC236}">
                <a16:creationId xmlns:a16="http://schemas.microsoft.com/office/drawing/2014/main" id="{09F8D7E7-B53E-5780-5E36-71AEEDFBD39B}"/>
              </a:ext>
            </a:extLst>
          </p:cNvPr>
          <p:cNvSpPr txBox="1"/>
          <p:nvPr/>
        </p:nvSpPr>
        <p:spPr>
          <a:xfrm>
            <a:off x="812800" y="1447800"/>
            <a:ext cx="8915400" cy="3970318"/>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The Carbon Emission Analyzer is an AI-powered system designed to help companies measure and manage the environmental impact of their products. By integrating sales data with carbon emission metrics, the system calculates the total carbon footprint of each product and identifies high-emission, high-sales items. Using AI, it provides alternative product suggestions, evaluates substitution risks, and categorizes products based on criticality, enabling data-driven decisions for sustainable business practices.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0159" y="397509"/>
            <a:ext cx="2926079" cy="457200"/>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362585">
              <a:lnSpc>
                <a:spcPct val="100000"/>
              </a:lnSpc>
              <a:spcBef>
                <a:spcPts val="100"/>
              </a:spcBef>
            </a:pPr>
            <a:r>
              <a:rPr spc="-10" dirty="0"/>
              <a:t>INTRODUCTION</a:t>
            </a:r>
          </a:p>
        </p:txBody>
      </p:sp>
      <p:sp>
        <p:nvSpPr>
          <p:cNvPr id="4" name="TextBox 3">
            <a:extLst>
              <a:ext uri="{FF2B5EF4-FFF2-40B4-BE49-F238E27FC236}">
                <a16:creationId xmlns:a16="http://schemas.microsoft.com/office/drawing/2014/main" id="{261DD05B-0E19-1598-C0D4-D855B84E9510}"/>
              </a:ext>
            </a:extLst>
          </p:cNvPr>
          <p:cNvSpPr txBox="1"/>
          <p:nvPr/>
        </p:nvSpPr>
        <p:spPr>
          <a:xfrm>
            <a:off x="660400" y="1371600"/>
            <a:ext cx="8991600" cy="3970318"/>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Modern retail and production systems often overlook the environmental consequences of their product lines. High-selling products can significantly contribute to carbon emissions, and manual assessment is time-consuming and error-prone. The Carbon Emission Analyzer combines AI, sales data, and environmental metrics to automatically assess carbon footprints, suggest low-emission alternatives, and support companies in reducing their overall environmental impact without compromising profitability.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0159" y="397509"/>
            <a:ext cx="2926079" cy="457200"/>
          </a:xfrm>
          <a:prstGeom prst="rect">
            <a:avLst/>
          </a:prstGeom>
        </p:spPr>
      </p:pic>
      <p:sp>
        <p:nvSpPr>
          <p:cNvPr id="3" name="object 3"/>
          <p:cNvSpPr txBox="1">
            <a:spLocks noGrp="1"/>
          </p:cNvSpPr>
          <p:nvPr>
            <p:ph type="title"/>
          </p:nvPr>
        </p:nvSpPr>
        <p:spPr>
          <a:xfrm>
            <a:off x="340258" y="413131"/>
            <a:ext cx="4253280" cy="320601"/>
          </a:xfrm>
          <a:prstGeom prst="rect">
            <a:avLst/>
          </a:prstGeom>
        </p:spPr>
        <p:txBody>
          <a:bodyPr vert="horz" wrap="square" lIns="0" tIns="12700" rIns="0" bIns="0" rtlCol="0">
            <a:spAutoFit/>
          </a:bodyPr>
          <a:lstStyle/>
          <a:p>
            <a:pPr marL="362585">
              <a:lnSpc>
                <a:spcPct val="100000"/>
              </a:lnSpc>
              <a:spcBef>
                <a:spcPts val="100"/>
              </a:spcBef>
            </a:pPr>
            <a:r>
              <a:rPr lang="en-US" spc="-10" dirty="0"/>
              <a:t>OBJECTIVE</a:t>
            </a:r>
            <a:endParaRPr spc="-10" dirty="0"/>
          </a:p>
        </p:txBody>
      </p:sp>
      <p:sp>
        <p:nvSpPr>
          <p:cNvPr id="5" name="TextBox 4">
            <a:extLst>
              <a:ext uri="{FF2B5EF4-FFF2-40B4-BE49-F238E27FC236}">
                <a16:creationId xmlns:a16="http://schemas.microsoft.com/office/drawing/2014/main" id="{E802B5B8-9400-77BB-F72A-8EB9BABEDE57}"/>
              </a:ext>
            </a:extLst>
          </p:cNvPr>
          <p:cNvSpPr txBox="1"/>
          <p:nvPr/>
        </p:nvSpPr>
        <p:spPr>
          <a:xfrm>
            <a:off x="584200" y="1371600"/>
            <a:ext cx="9220200" cy="5262979"/>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primary objective of this project is to provide companies with an intelligent tool that can assess the environmental impact of their products by calculating the carbon emission level for each item based on its category and sales volume. The system identifies products with high emissions and significant sales, highlighting them for potential removal or replacement. It leverages AI to suggest alternative, low-carbon products and evaluates substitution risks to ensure that overall emissions are reduced. Additionally, the tool tracks the source of each product and classifies them into categories such as normal, critical, or high-risk, enabling companies to make informed and sustainable business decisions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6789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0159" y="397509"/>
            <a:ext cx="3676841" cy="457200"/>
          </a:xfrm>
          <a:prstGeom prst="rect">
            <a:avLst/>
          </a:prstGeom>
        </p:spPr>
      </p:pic>
      <p:sp>
        <p:nvSpPr>
          <p:cNvPr id="3" name="object 3"/>
          <p:cNvSpPr txBox="1">
            <a:spLocks noGrp="1"/>
          </p:cNvSpPr>
          <p:nvPr>
            <p:ph type="title"/>
          </p:nvPr>
        </p:nvSpPr>
        <p:spPr>
          <a:xfrm>
            <a:off x="340258" y="413131"/>
            <a:ext cx="4253280" cy="320601"/>
          </a:xfrm>
          <a:prstGeom prst="rect">
            <a:avLst/>
          </a:prstGeom>
        </p:spPr>
        <p:txBody>
          <a:bodyPr vert="horz" wrap="square" lIns="0" tIns="12700" rIns="0" bIns="0" rtlCol="0">
            <a:spAutoFit/>
          </a:bodyPr>
          <a:lstStyle/>
          <a:p>
            <a:pPr marL="362585">
              <a:lnSpc>
                <a:spcPct val="100000"/>
              </a:lnSpc>
              <a:spcBef>
                <a:spcPts val="100"/>
              </a:spcBef>
            </a:pPr>
            <a:r>
              <a:rPr lang="en-US" spc="-10" dirty="0"/>
              <a:t>PROBLEM STATEMENT</a:t>
            </a:r>
            <a:endParaRPr spc="-10" dirty="0"/>
          </a:p>
        </p:txBody>
      </p:sp>
      <p:sp>
        <p:nvSpPr>
          <p:cNvPr id="4" name="TextBox 3">
            <a:extLst>
              <a:ext uri="{FF2B5EF4-FFF2-40B4-BE49-F238E27FC236}">
                <a16:creationId xmlns:a16="http://schemas.microsoft.com/office/drawing/2014/main" id="{08EC09CE-65EC-C5AB-D844-7201B58400E5}"/>
              </a:ext>
            </a:extLst>
          </p:cNvPr>
          <p:cNvSpPr txBox="1"/>
          <p:nvPr/>
        </p:nvSpPr>
        <p:spPr>
          <a:xfrm>
            <a:off x="812800" y="1371600"/>
            <a:ext cx="8610600" cy="3970318"/>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Companies lack an automated system to analyze the carbon footprint of products and assess their environmental impact alongside sales performance. High-emission, high-selling products may remain in circulation, while stopping one product may inadvertently increase emissions through substitution. The system must calculate emissions, analyze sales data, suggest alternatives, and categorize products to support sustainable, data-driven decisions.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9945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0159" y="397509"/>
            <a:ext cx="3905441" cy="457200"/>
          </a:xfrm>
          <a:prstGeom prst="rect">
            <a:avLst/>
          </a:prstGeom>
        </p:spPr>
      </p:pic>
      <p:sp>
        <p:nvSpPr>
          <p:cNvPr id="3" name="object 3"/>
          <p:cNvSpPr txBox="1">
            <a:spLocks noGrp="1"/>
          </p:cNvSpPr>
          <p:nvPr>
            <p:ph type="title"/>
          </p:nvPr>
        </p:nvSpPr>
        <p:spPr>
          <a:xfrm>
            <a:off x="340258" y="413131"/>
            <a:ext cx="4253280" cy="320601"/>
          </a:xfrm>
          <a:prstGeom prst="rect">
            <a:avLst/>
          </a:prstGeom>
        </p:spPr>
        <p:txBody>
          <a:bodyPr vert="horz" wrap="square" lIns="0" tIns="12700" rIns="0" bIns="0" rtlCol="0">
            <a:spAutoFit/>
          </a:bodyPr>
          <a:lstStyle/>
          <a:p>
            <a:pPr marL="362585">
              <a:lnSpc>
                <a:spcPct val="100000"/>
              </a:lnSpc>
              <a:spcBef>
                <a:spcPts val="100"/>
              </a:spcBef>
            </a:pPr>
            <a:r>
              <a:rPr lang="en-US" spc="-10" dirty="0"/>
              <a:t>SCOPE OF THE PROJECT</a:t>
            </a:r>
            <a:endParaRPr spc="-10" dirty="0"/>
          </a:p>
        </p:txBody>
      </p:sp>
      <p:sp>
        <p:nvSpPr>
          <p:cNvPr id="4" name="TextBox 3">
            <a:extLst>
              <a:ext uri="{FF2B5EF4-FFF2-40B4-BE49-F238E27FC236}">
                <a16:creationId xmlns:a16="http://schemas.microsoft.com/office/drawing/2014/main" id="{88F6C4D0-FBAD-0DDE-9A17-6EE07A7992BE}"/>
              </a:ext>
            </a:extLst>
          </p:cNvPr>
          <p:cNvSpPr txBox="1"/>
          <p:nvPr/>
        </p:nvSpPr>
        <p:spPr>
          <a:xfrm>
            <a:off x="584200" y="1371600"/>
            <a:ext cx="8839200" cy="5262979"/>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This project aims to assist companies in making informed decisions regarding their product lines by integrating sales data with product categories to accurately calculate carbon emissions. It provides AI-driven recommendations for low-carbon alternative products and evaluates substitution risks to assess the overall impact on emissions. Additionally, the system tracks each product by its production source and categorizes them based on criticality, enabling better decision-making. The platform is scalable and can be extended to support multiple product lines, company databases, and real-time dashboards for continuous monitoring of environmental performance.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1273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3634" y="416179"/>
            <a:ext cx="2926079" cy="457200"/>
          </a:xfrm>
          <a:prstGeom prst="rect">
            <a:avLst/>
          </a:prstGeom>
        </p:spPr>
      </p:pic>
      <p:sp>
        <p:nvSpPr>
          <p:cNvPr id="3" name="object 3"/>
          <p:cNvSpPr txBox="1">
            <a:spLocks noGrp="1"/>
          </p:cNvSpPr>
          <p:nvPr>
            <p:ph type="title"/>
          </p:nvPr>
        </p:nvSpPr>
        <p:spPr>
          <a:prstGeom prst="rect">
            <a:avLst/>
          </a:prstGeom>
        </p:spPr>
        <p:txBody>
          <a:bodyPr vert="horz" wrap="square" lIns="0" tIns="61417" rIns="0" bIns="0" rtlCol="0">
            <a:spAutoFit/>
          </a:bodyPr>
          <a:lstStyle/>
          <a:p>
            <a:pPr marL="71755">
              <a:lnSpc>
                <a:spcPct val="100000"/>
              </a:lnSpc>
              <a:spcBef>
                <a:spcPts val="105"/>
              </a:spcBef>
            </a:pPr>
            <a:r>
              <a:rPr spc="-20" dirty="0"/>
              <a:t>LITERATURE</a:t>
            </a:r>
            <a:r>
              <a:rPr spc="-40" dirty="0"/>
              <a:t> </a:t>
            </a:r>
            <a:r>
              <a:rPr spc="-10" dirty="0"/>
              <a:t>SURVEY</a:t>
            </a:r>
          </a:p>
        </p:txBody>
      </p:sp>
      <p:graphicFrame>
        <p:nvGraphicFramePr>
          <p:cNvPr id="4" name="object 4"/>
          <p:cNvGraphicFramePr>
            <a:graphicFrameLocks noGrp="1"/>
          </p:cNvGraphicFramePr>
          <p:nvPr>
            <p:extLst>
              <p:ext uri="{D42A27DB-BD31-4B8C-83A1-F6EECF244321}">
                <p14:modId xmlns:p14="http://schemas.microsoft.com/office/powerpoint/2010/main" val="2776004319"/>
              </p:ext>
            </p:extLst>
          </p:nvPr>
        </p:nvGraphicFramePr>
        <p:xfrm>
          <a:off x="667905" y="1128522"/>
          <a:ext cx="8982071" cy="6002020"/>
        </p:xfrm>
        <a:graphic>
          <a:graphicData uri="http://schemas.openxmlformats.org/drawingml/2006/table">
            <a:tbl>
              <a:tblPr firstRow="1" bandRow="1">
                <a:tableStyleId>{2D5ABB26-0587-4C30-8999-92F81FD0307C}</a:tableStyleId>
              </a:tblPr>
              <a:tblGrid>
                <a:gridCol w="1796414">
                  <a:extLst>
                    <a:ext uri="{9D8B030D-6E8A-4147-A177-3AD203B41FA5}">
                      <a16:colId xmlns:a16="http://schemas.microsoft.com/office/drawing/2014/main" val="20000"/>
                    </a:ext>
                  </a:extLst>
                </a:gridCol>
                <a:gridCol w="1796414">
                  <a:extLst>
                    <a:ext uri="{9D8B030D-6E8A-4147-A177-3AD203B41FA5}">
                      <a16:colId xmlns:a16="http://schemas.microsoft.com/office/drawing/2014/main" val="20001"/>
                    </a:ext>
                  </a:extLst>
                </a:gridCol>
                <a:gridCol w="1796414">
                  <a:extLst>
                    <a:ext uri="{9D8B030D-6E8A-4147-A177-3AD203B41FA5}">
                      <a16:colId xmlns:a16="http://schemas.microsoft.com/office/drawing/2014/main" val="20002"/>
                    </a:ext>
                  </a:extLst>
                </a:gridCol>
                <a:gridCol w="1796414">
                  <a:extLst>
                    <a:ext uri="{9D8B030D-6E8A-4147-A177-3AD203B41FA5}">
                      <a16:colId xmlns:a16="http://schemas.microsoft.com/office/drawing/2014/main" val="20003"/>
                    </a:ext>
                  </a:extLst>
                </a:gridCol>
                <a:gridCol w="1796415">
                  <a:extLst>
                    <a:ext uri="{9D8B030D-6E8A-4147-A177-3AD203B41FA5}">
                      <a16:colId xmlns:a16="http://schemas.microsoft.com/office/drawing/2014/main" val="20004"/>
                    </a:ext>
                  </a:extLst>
                </a:gridCol>
              </a:tblGrid>
              <a:tr h="234950">
                <a:tc>
                  <a:txBody>
                    <a:bodyPr/>
                    <a:lstStyle/>
                    <a:p>
                      <a:pPr algn="ctr">
                        <a:lnSpc>
                          <a:spcPct val="100000"/>
                        </a:lnSpc>
                        <a:spcBef>
                          <a:spcPts val="40"/>
                        </a:spcBef>
                      </a:pPr>
                      <a:r>
                        <a:rPr sz="1400" b="1" spc="-10" dirty="0">
                          <a:latin typeface="Times New Roman"/>
                          <a:cs typeface="Times New Roman"/>
                        </a:rPr>
                        <a:t>Title</a:t>
                      </a:r>
                      <a:endParaRPr sz="1400" dirty="0">
                        <a:latin typeface="Times New Roman"/>
                        <a:cs typeface="Times New Roman"/>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29565">
                        <a:lnSpc>
                          <a:spcPct val="100000"/>
                        </a:lnSpc>
                        <a:spcBef>
                          <a:spcPts val="40"/>
                        </a:spcBef>
                      </a:pPr>
                      <a:r>
                        <a:rPr sz="1400" b="1" dirty="0">
                          <a:latin typeface="Times New Roman"/>
                          <a:cs typeface="Times New Roman"/>
                        </a:rPr>
                        <a:t>Author</a:t>
                      </a:r>
                      <a:r>
                        <a:rPr sz="1400" b="1" spc="-50" dirty="0">
                          <a:latin typeface="Times New Roman"/>
                          <a:cs typeface="Times New Roman"/>
                        </a:rPr>
                        <a:t> </a:t>
                      </a:r>
                      <a:r>
                        <a:rPr sz="1400" b="1" dirty="0">
                          <a:latin typeface="Times New Roman"/>
                          <a:cs typeface="Times New Roman"/>
                        </a:rPr>
                        <a:t>&amp;</a:t>
                      </a:r>
                      <a:r>
                        <a:rPr sz="1400" b="1" spc="-80" dirty="0">
                          <a:latin typeface="Times New Roman"/>
                          <a:cs typeface="Times New Roman"/>
                        </a:rPr>
                        <a:t> </a:t>
                      </a:r>
                      <a:r>
                        <a:rPr sz="1400" b="1" spc="-20" dirty="0">
                          <a:latin typeface="Times New Roman"/>
                          <a:cs typeface="Times New Roman"/>
                        </a:rPr>
                        <a:t>Year</a:t>
                      </a:r>
                      <a:endParaRPr sz="1400">
                        <a:latin typeface="Times New Roman"/>
                        <a:cs typeface="Times New Roman"/>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6360">
                        <a:lnSpc>
                          <a:spcPct val="100000"/>
                        </a:lnSpc>
                        <a:spcBef>
                          <a:spcPts val="40"/>
                        </a:spcBef>
                      </a:pPr>
                      <a:r>
                        <a:rPr sz="1400" b="1" spc="-10" dirty="0">
                          <a:latin typeface="Times New Roman"/>
                          <a:cs typeface="Times New Roman"/>
                        </a:rPr>
                        <a:t>Technique/Algorithm</a:t>
                      </a:r>
                      <a:endParaRPr sz="1400">
                        <a:latin typeface="Times New Roman"/>
                        <a:cs typeface="Times New Roman"/>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0"/>
                        </a:spcBef>
                      </a:pPr>
                      <a:r>
                        <a:rPr sz="1400" b="1" spc="-10" dirty="0">
                          <a:latin typeface="Times New Roman"/>
                          <a:cs typeface="Times New Roman"/>
                        </a:rPr>
                        <a:t>Merit</a:t>
                      </a:r>
                      <a:endParaRPr sz="1400">
                        <a:latin typeface="Times New Roman"/>
                        <a:cs typeface="Times New Roman"/>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88010">
                        <a:lnSpc>
                          <a:spcPct val="100000"/>
                        </a:lnSpc>
                        <a:spcBef>
                          <a:spcPts val="40"/>
                        </a:spcBef>
                      </a:pPr>
                      <a:r>
                        <a:rPr sz="1400" b="1" spc="-10" dirty="0">
                          <a:latin typeface="Times New Roman"/>
                          <a:cs typeface="Times New Roman"/>
                        </a:rPr>
                        <a:t>Demerit</a:t>
                      </a:r>
                      <a:endParaRPr sz="1400">
                        <a:latin typeface="Times New Roman"/>
                        <a:cs typeface="Times New Roman"/>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359535">
                <a:tc>
                  <a:txBody>
                    <a:bodyPr/>
                    <a:lstStyle/>
                    <a:p>
                      <a:pPr marL="22860" marR="20320" indent="5080" algn="ctr">
                        <a:lnSpc>
                          <a:spcPct val="100000"/>
                        </a:lnSpc>
                        <a:spcBef>
                          <a:spcPts val="1110"/>
                        </a:spcBef>
                      </a:pPr>
                      <a:endParaRPr sz="1400" dirty="0">
                        <a:latin typeface="Times New Roman"/>
                        <a:cs typeface="Times New Roman"/>
                      </a:endParaRPr>
                    </a:p>
                  </a:txBody>
                  <a:tcPr marL="0" marR="0" marT="1409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180"/>
                        </a:spcBef>
                      </a:pPr>
                      <a:endParaRPr sz="1400">
                        <a:latin typeface="Times New Roman"/>
                        <a:cs typeface="Times New Roman"/>
                      </a:endParaRPr>
                    </a:p>
                  </a:txBody>
                  <a:tcPr marL="0" marR="0" marT="149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180"/>
                        </a:spcBef>
                      </a:pPr>
                      <a:endParaRPr sz="1400">
                        <a:latin typeface="Times New Roman"/>
                        <a:cs typeface="Times New Roman"/>
                      </a:endParaRPr>
                    </a:p>
                  </a:txBody>
                  <a:tcPr marL="0" marR="0" marT="149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40"/>
                        </a:spcBef>
                      </a:pPr>
                      <a:endParaRPr sz="14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40"/>
                        </a:spcBef>
                      </a:pPr>
                      <a:endParaRPr sz="14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549400">
                <a:tc>
                  <a:txBody>
                    <a:bodyPr/>
                    <a:lstStyle/>
                    <a:p>
                      <a:pPr marL="53340" marR="48895" indent="-635" algn="ctr">
                        <a:lnSpc>
                          <a:spcPct val="100000"/>
                        </a:lnSpc>
                        <a:spcBef>
                          <a:spcPts val="180"/>
                        </a:spcBef>
                      </a:pPr>
                      <a:endParaRPr sz="1400">
                        <a:latin typeface="Times New Roman"/>
                        <a:cs typeface="Times New Roman"/>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90"/>
                        </a:spcBef>
                      </a:pPr>
                      <a:endParaRPr sz="1400" dirty="0">
                        <a:latin typeface="Times New Roman"/>
                        <a:cs typeface="Times New Roman"/>
                      </a:endParaRPr>
                    </a:p>
                  </a:txBody>
                  <a:tcPr marL="0" marR="0" marT="138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979805">
                <a:tc>
                  <a:txBody>
                    <a:bodyPr/>
                    <a:lstStyle/>
                    <a:p>
                      <a:pPr marL="74930" marR="71755" algn="ctr">
                        <a:lnSpc>
                          <a:spcPct val="100000"/>
                        </a:lnSpc>
                        <a:spcBef>
                          <a:spcPts val="459"/>
                        </a:spcBef>
                      </a:pPr>
                      <a:endParaRPr sz="1400">
                        <a:latin typeface="Times New Roman"/>
                        <a:cs typeface="Times New Roman"/>
                      </a:endParaRPr>
                    </a:p>
                  </a:txBody>
                  <a:tcPr marL="0" marR="0" marT="584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3975" marR="47625" indent="1270" algn="ctr">
                        <a:lnSpc>
                          <a:spcPct val="100000"/>
                        </a:lnSpc>
                        <a:spcBef>
                          <a:spcPts val="459"/>
                        </a:spcBef>
                      </a:pPr>
                      <a:endParaRPr sz="1400">
                        <a:latin typeface="Times New Roman"/>
                        <a:cs typeface="Times New Roman"/>
                      </a:endParaRPr>
                    </a:p>
                  </a:txBody>
                  <a:tcPr marL="0" marR="0" marT="584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30"/>
                        </a:spcBef>
                      </a:pPr>
                      <a:endParaRPr sz="1400">
                        <a:latin typeface="Times New Roman"/>
                        <a:cs typeface="Times New Roman"/>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2729" marR="90170" indent="-155575">
                        <a:lnSpc>
                          <a:spcPct val="100000"/>
                        </a:lnSpc>
                        <a:spcBef>
                          <a:spcPts val="1300"/>
                        </a:spcBef>
                      </a:pPr>
                      <a:endParaRPr sz="1400" dirty="0">
                        <a:latin typeface="Times New Roman"/>
                        <a:cs typeface="Times New Roman"/>
                      </a:endParaRPr>
                    </a:p>
                  </a:txBody>
                  <a:tcPr marL="0" marR="0" marT="165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4130" marR="16510" algn="ctr">
                        <a:lnSpc>
                          <a:spcPct val="100000"/>
                        </a:lnSpc>
                        <a:spcBef>
                          <a:spcPts val="459"/>
                        </a:spcBef>
                      </a:pPr>
                      <a:endParaRPr sz="1400" dirty="0">
                        <a:latin typeface="Times New Roman"/>
                        <a:cs typeface="Times New Roman"/>
                      </a:endParaRPr>
                    </a:p>
                  </a:txBody>
                  <a:tcPr marL="0" marR="0" marT="584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1087755">
                <a:tc>
                  <a:txBody>
                    <a:bodyPr/>
                    <a:lstStyle/>
                    <a:p>
                      <a:pPr marL="21590" marR="16510" indent="-635" algn="ctr">
                        <a:lnSpc>
                          <a:spcPct val="100000"/>
                        </a:lnSpc>
                        <a:spcBef>
                          <a:spcPts val="45"/>
                        </a:spcBef>
                      </a:pPr>
                      <a:endParaRPr sz="1400">
                        <a:latin typeface="Times New Roman"/>
                        <a:cs typeface="Times New Roman"/>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60"/>
                        </a:spcBef>
                      </a:pPr>
                      <a:endParaRPr sz="1400">
                        <a:latin typeface="Times New Roman"/>
                        <a:cs typeface="Times New Roman"/>
                      </a:endParaRPr>
                    </a:p>
                  </a:txBody>
                  <a:tcPr marL="0" marR="0" marT="1219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60"/>
                        </a:spcBef>
                      </a:pPr>
                      <a:endParaRPr sz="1400">
                        <a:latin typeface="Times New Roman"/>
                        <a:cs typeface="Times New Roman"/>
                      </a:endParaRPr>
                    </a:p>
                  </a:txBody>
                  <a:tcPr marL="0" marR="0" marT="1219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14"/>
                        </a:spcBef>
                      </a:pPr>
                      <a:endParaRPr sz="1400">
                        <a:latin typeface="Times New Roman"/>
                        <a:cs typeface="Times New Roman"/>
                      </a:endParaRPr>
                    </a:p>
                  </a:txBody>
                  <a:tcPr marL="0" marR="0" marT="146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marR="86360" algn="ctr">
                        <a:lnSpc>
                          <a:spcPct val="100000"/>
                        </a:lnSpc>
                        <a:spcBef>
                          <a:spcPts val="45"/>
                        </a:spcBef>
                      </a:pPr>
                      <a:endParaRPr sz="1400" dirty="0">
                        <a:latin typeface="Times New Roman"/>
                        <a:cs typeface="Times New Roman"/>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790575">
                <a:tc>
                  <a:txBody>
                    <a:bodyPr/>
                    <a:lstStyle/>
                    <a:p>
                      <a:pPr marL="119380">
                        <a:lnSpc>
                          <a:spcPct val="100000"/>
                        </a:lnSpc>
                        <a:spcBef>
                          <a:spcPts val="555"/>
                        </a:spcBef>
                      </a:pPr>
                      <a:endParaRPr sz="1400">
                        <a:latin typeface="Times New Roman"/>
                        <a:cs typeface="Times New Roman"/>
                      </a:endParaRPr>
                    </a:p>
                  </a:txBody>
                  <a:tcPr marL="0" marR="0" marT="704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95"/>
                        </a:spcBef>
                      </a:pPr>
                      <a:endParaRPr sz="1400">
                        <a:latin typeface="Times New Roman"/>
                        <a:cs typeface="Times New Roman"/>
                      </a:endParaRPr>
                    </a:p>
                  </a:txBody>
                  <a:tcPr marL="0" marR="0" marT="1771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95"/>
                        </a:spcBef>
                      </a:pPr>
                      <a:endParaRPr sz="1400">
                        <a:latin typeface="Times New Roman"/>
                        <a:cs typeface="Times New Roman"/>
                      </a:endParaRPr>
                    </a:p>
                  </a:txBody>
                  <a:tcPr marL="0" marR="0" marT="1771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9225" marR="116839" indent="-24765" algn="just">
                        <a:lnSpc>
                          <a:spcPct val="100000"/>
                        </a:lnSpc>
                        <a:spcBef>
                          <a:spcPts val="555"/>
                        </a:spcBef>
                      </a:pPr>
                      <a:endParaRPr sz="1400">
                        <a:latin typeface="Times New Roman"/>
                        <a:cs typeface="Times New Roman"/>
                      </a:endParaRPr>
                    </a:p>
                  </a:txBody>
                  <a:tcPr marL="0" marR="0" marT="704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1755" marR="64769" algn="ctr">
                        <a:lnSpc>
                          <a:spcPct val="100000"/>
                        </a:lnSpc>
                        <a:spcBef>
                          <a:spcPts val="555"/>
                        </a:spcBef>
                      </a:pPr>
                      <a:endParaRPr sz="1400" dirty="0">
                        <a:latin typeface="Times New Roman"/>
                        <a:cs typeface="Times New Roman"/>
                      </a:endParaRPr>
                    </a:p>
                  </a:txBody>
                  <a:tcPr marL="0" marR="0" marT="704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3634" y="416179"/>
            <a:ext cx="2926079" cy="457200"/>
          </a:xfrm>
          <a:prstGeom prst="rect">
            <a:avLst/>
          </a:prstGeom>
        </p:spPr>
      </p:pic>
      <p:sp>
        <p:nvSpPr>
          <p:cNvPr id="3" name="object 3"/>
          <p:cNvSpPr txBox="1">
            <a:spLocks noGrp="1"/>
          </p:cNvSpPr>
          <p:nvPr>
            <p:ph type="title"/>
          </p:nvPr>
        </p:nvSpPr>
        <p:spPr>
          <a:prstGeom prst="rect">
            <a:avLst/>
          </a:prstGeom>
        </p:spPr>
        <p:txBody>
          <a:bodyPr vert="horz" wrap="square" lIns="0" tIns="61417" rIns="0" bIns="0" rtlCol="0">
            <a:spAutoFit/>
          </a:bodyPr>
          <a:lstStyle/>
          <a:p>
            <a:pPr marL="280670">
              <a:lnSpc>
                <a:spcPct val="100000"/>
              </a:lnSpc>
              <a:spcBef>
                <a:spcPts val="105"/>
              </a:spcBef>
            </a:pPr>
            <a:r>
              <a:rPr dirty="0"/>
              <a:t>EXISTING</a:t>
            </a:r>
            <a:r>
              <a:rPr spc="-55" dirty="0"/>
              <a:t> </a:t>
            </a:r>
            <a:r>
              <a:rPr spc="-10" dirty="0"/>
              <a:t>SYSTEM</a:t>
            </a:r>
          </a:p>
        </p:txBody>
      </p:sp>
      <p:sp>
        <p:nvSpPr>
          <p:cNvPr id="4" name="TextBox 3">
            <a:extLst>
              <a:ext uri="{FF2B5EF4-FFF2-40B4-BE49-F238E27FC236}">
                <a16:creationId xmlns:a16="http://schemas.microsoft.com/office/drawing/2014/main" id="{3148F073-7E8C-B3EF-F4E9-5878F3FB9B2C}"/>
              </a:ext>
            </a:extLst>
          </p:cNvPr>
          <p:cNvSpPr txBox="1"/>
          <p:nvPr/>
        </p:nvSpPr>
        <p:spPr>
          <a:xfrm>
            <a:off x="812800" y="1524000"/>
            <a:ext cx="8839200" cy="3108543"/>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Currently, companies rely on manual reporting, spreadsheets, or basic analytics tools to monitor product emissions and sales performance. These methods are time-consuming, error-prone, and lack AI-powered decision support. Additionally, substitution risks and alternative product suggestions are rarely considered, limiting the effectiveness of emission reduction strategies.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2425" y="515873"/>
            <a:ext cx="3308096" cy="548640"/>
          </a:xfrm>
          <a:prstGeom prst="rect">
            <a:avLst/>
          </a:prstGeom>
        </p:spPr>
      </p:pic>
      <p:sp>
        <p:nvSpPr>
          <p:cNvPr id="3" name="object 3"/>
          <p:cNvSpPr txBox="1">
            <a:spLocks noGrp="1"/>
          </p:cNvSpPr>
          <p:nvPr>
            <p:ph type="title"/>
          </p:nvPr>
        </p:nvSpPr>
        <p:spPr>
          <a:prstGeom prst="rect">
            <a:avLst/>
          </a:prstGeom>
        </p:spPr>
        <p:txBody>
          <a:bodyPr vert="horz" wrap="square" lIns="0" tIns="188214" rIns="0" bIns="0" rtlCol="0">
            <a:spAutoFit/>
          </a:bodyPr>
          <a:lstStyle/>
          <a:p>
            <a:pPr marL="654685">
              <a:lnSpc>
                <a:spcPct val="100000"/>
              </a:lnSpc>
              <a:spcBef>
                <a:spcPts val="100"/>
              </a:spcBef>
            </a:pPr>
            <a:r>
              <a:rPr spc="-35" dirty="0"/>
              <a:t>DISADVANTAGES</a:t>
            </a:r>
          </a:p>
        </p:txBody>
      </p:sp>
      <p:sp>
        <p:nvSpPr>
          <p:cNvPr id="4" name="TextBox 3">
            <a:extLst>
              <a:ext uri="{FF2B5EF4-FFF2-40B4-BE49-F238E27FC236}">
                <a16:creationId xmlns:a16="http://schemas.microsoft.com/office/drawing/2014/main" id="{7555C81D-DD79-2A50-8574-27BD33A91889}"/>
              </a:ext>
            </a:extLst>
          </p:cNvPr>
          <p:cNvSpPr txBox="1"/>
          <p:nvPr/>
        </p:nvSpPr>
        <p:spPr>
          <a:xfrm>
            <a:off x="330098" y="1447800"/>
            <a:ext cx="9680575" cy="510909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Manual calculations are slow and prone to errors.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Lack of real-time assessment of product emissions.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AI-driven recommendations for alternatives.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Substitution risks are not analyzed, which can lead to unintended higher emissions.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Inability to classify products by criticality for better decision-making.</a:t>
            </a:r>
          </a:p>
          <a:p>
            <a:pPr marL="285750" indent="-285750" algn="just">
              <a:buFont typeface="Arial" panose="020B0604020202020204" pitchFamily="34" charset="0"/>
              <a:buChar char="•"/>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2425" y="515873"/>
            <a:ext cx="3308096" cy="548640"/>
          </a:xfrm>
          <a:prstGeom prst="rect">
            <a:avLst/>
          </a:prstGeom>
        </p:spPr>
      </p:pic>
      <p:sp>
        <p:nvSpPr>
          <p:cNvPr id="3" name="object 3"/>
          <p:cNvSpPr txBox="1">
            <a:spLocks noGrp="1"/>
          </p:cNvSpPr>
          <p:nvPr>
            <p:ph type="title"/>
          </p:nvPr>
        </p:nvSpPr>
        <p:spPr>
          <a:prstGeom prst="rect">
            <a:avLst/>
          </a:prstGeom>
        </p:spPr>
        <p:txBody>
          <a:bodyPr vert="horz" wrap="square" lIns="0" tIns="188214" rIns="0" bIns="0" rtlCol="0">
            <a:spAutoFit/>
          </a:bodyPr>
          <a:lstStyle/>
          <a:p>
            <a:pPr marL="487045">
              <a:lnSpc>
                <a:spcPct val="100000"/>
              </a:lnSpc>
              <a:spcBef>
                <a:spcPts val="100"/>
              </a:spcBef>
            </a:pPr>
            <a:r>
              <a:rPr dirty="0"/>
              <a:t>PROPOSED</a:t>
            </a:r>
            <a:r>
              <a:rPr spc="-75" dirty="0"/>
              <a:t> </a:t>
            </a:r>
            <a:r>
              <a:rPr spc="-10" dirty="0"/>
              <a:t>SYSTEM</a:t>
            </a:r>
          </a:p>
        </p:txBody>
      </p:sp>
      <p:sp>
        <p:nvSpPr>
          <p:cNvPr id="4" name="TextBox 3">
            <a:extLst>
              <a:ext uri="{FF2B5EF4-FFF2-40B4-BE49-F238E27FC236}">
                <a16:creationId xmlns:a16="http://schemas.microsoft.com/office/drawing/2014/main" id="{70FEC0BD-CFDD-83AD-E093-5BEFD0390FDF}"/>
              </a:ext>
            </a:extLst>
          </p:cNvPr>
          <p:cNvSpPr txBox="1"/>
          <p:nvPr/>
        </p:nvSpPr>
        <p:spPr>
          <a:xfrm>
            <a:off x="584200" y="1600200"/>
            <a:ext cx="9296400" cy="53340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4E7D6F06-2114-45F2-C7DF-EFA7B59F4188}"/>
              </a:ext>
            </a:extLst>
          </p:cNvPr>
          <p:cNvSpPr txBox="1"/>
          <p:nvPr/>
        </p:nvSpPr>
        <p:spPr>
          <a:xfrm>
            <a:off x="469900" y="1745233"/>
            <a:ext cx="9220200" cy="3108543"/>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The proposed system uses AI to automatically calculate carbon emissions for products and identify high-risk items. It suggests low-carbon alternatives, assesses substitution risks, and provides a structured classification of products into normal, critical, or high-emission categories. This enables companies to reduce their environmental impact while maintaining business performance.</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2425" y="515873"/>
            <a:ext cx="3308096" cy="548640"/>
          </a:xfrm>
          <a:prstGeom prst="rect">
            <a:avLst/>
          </a:prstGeom>
        </p:spPr>
      </p:pic>
      <p:sp>
        <p:nvSpPr>
          <p:cNvPr id="3" name="object 3"/>
          <p:cNvSpPr txBox="1">
            <a:spLocks noGrp="1"/>
          </p:cNvSpPr>
          <p:nvPr>
            <p:ph type="title"/>
          </p:nvPr>
        </p:nvSpPr>
        <p:spPr>
          <a:prstGeom prst="rect">
            <a:avLst/>
          </a:prstGeom>
        </p:spPr>
        <p:txBody>
          <a:bodyPr vert="horz" wrap="square" lIns="0" tIns="188214" rIns="0" bIns="0" rtlCol="0">
            <a:spAutoFit/>
          </a:bodyPr>
          <a:lstStyle/>
          <a:p>
            <a:pPr marL="836294">
              <a:lnSpc>
                <a:spcPct val="100000"/>
              </a:lnSpc>
              <a:spcBef>
                <a:spcPts val="100"/>
              </a:spcBef>
            </a:pPr>
            <a:r>
              <a:rPr spc="-40" dirty="0"/>
              <a:t>ADVANTAGES</a:t>
            </a:r>
          </a:p>
        </p:txBody>
      </p:sp>
      <p:sp>
        <p:nvSpPr>
          <p:cNvPr id="4" name="TextBox 3">
            <a:extLst>
              <a:ext uri="{FF2B5EF4-FFF2-40B4-BE49-F238E27FC236}">
                <a16:creationId xmlns:a16="http://schemas.microsoft.com/office/drawing/2014/main" id="{9E03DBCE-35FE-D5C1-884B-DCD76DD42F56}"/>
              </a:ext>
            </a:extLst>
          </p:cNvPr>
          <p:cNvSpPr txBox="1"/>
          <p:nvPr/>
        </p:nvSpPr>
        <p:spPr>
          <a:xfrm>
            <a:off x="431800" y="1277627"/>
            <a:ext cx="9296400" cy="655564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Automated and accurate calculation of product carbon emissions.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AI-powered suggestions for alternative low-emission products.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Evaluation of substitution risks for effective net emission reduction.</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Classification of products by criticality and source.</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Time-saving and data-driven decision-making.</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Scalable for multiple products and company databases.</a:t>
            </a:r>
          </a:p>
          <a:p>
            <a:pPr marL="457200" indent="-457200" algn="just">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31800" y="337814"/>
            <a:ext cx="3886201" cy="457200"/>
          </a:xfrm>
          <a:prstGeom prst="rect">
            <a:avLst/>
          </a:prstGeom>
        </p:spPr>
      </p:pic>
      <p:sp>
        <p:nvSpPr>
          <p:cNvPr id="3" name="object 3"/>
          <p:cNvSpPr txBox="1">
            <a:spLocks noGrp="1"/>
          </p:cNvSpPr>
          <p:nvPr>
            <p:ph type="title"/>
          </p:nvPr>
        </p:nvSpPr>
        <p:spPr>
          <a:xfrm>
            <a:off x="-25399" y="228600"/>
            <a:ext cx="4343400" cy="497829"/>
          </a:xfrm>
          <a:prstGeom prst="rect">
            <a:avLst/>
          </a:prstGeom>
        </p:spPr>
        <p:txBody>
          <a:bodyPr vert="horz" wrap="square" lIns="0" tIns="188214" rIns="0" bIns="0" rtlCol="0">
            <a:spAutoFit/>
          </a:bodyPr>
          <a:lstStyle/>
          <a:p>
            <a:pPr marL="836294">
              <a:spcBef>
                <a:spcPts val="100"/>
              </a:spcBef>
            </a:pPr>
            <a:r>
              <a:rPr lang="en-US" spc="-10" dirty="0"/>
              <a:t>SYSTEM </a:t>
            </a:r>
            <a:r>
              <a:rPr lang="en-US" spc="-10" dirty="0">
                <a:solidFill>
                  <a:srgbClr val="FFFFFF"/>
                </a:solidFill>
              </a:rPr>
              <a:t>ARCHITECTURE</a:t>
            </a:r>
            <a:endParaRPr spc="-40" dirty="0"/>
          </a:p>
        </p:txBody>
      </p:sp>
      <p:sp>
        <p:nvSpPr>
          <p:cNvPr id="4" name="Rectangle 3">
            <a:extLst>
              <a:ext uri="{FF2B5EF4-FFF2-40B4-BE49-F238E27FC236}">
                <a16:creationId xmlns:a16="http://schemas.microsoft.com/office/drawing/2014/main" id="{D3C18E4C-10C3-3D77-BE41-EA8B358C1950}"/>
              </a:ext>
            </a:extLst>
          </p:cNvPr>
          <p:cNvSpPr/>
          <p:nvPr/>
        </p:nvSpPr>
        <p:spPr>
          <a:xfrm>
            <a:off x="3234690" y="1156393"/>
            <a:ext cx="3352800" cy="838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dk1"/>
                </a:solidFill>
                <a:latin typeface="Times New Roman" panose="02020603050405020304" pitchFamily="18" charset="0"/>
                <a:cs typeface="Times New Roman" panose="02020603050405020304" pitchFamily="18" charset="0"/>
              </a:rPr>
              <a:t>User Interface </a:t>
            </a:r>
            <a:endParaRPr lang="en-US" dirty="0">
              <a:solidFill>
                <a:schemeClr val="dk1"/>
              </a:solidFill>
              <a:latin typeface="Times New Roman" panose="02020603050405020304" pitchFamily="18" charset="0"/>
              <a:cs typeface="Times New Roman" panose="02020603050405020304" pitchFamily="18" charset="0"/>
            </a:endParaRPr>
          </a:p>
          <a:p>
            <a:pPr algn="ctr"/>
            <a:r>
              <a:rPr lang="en-US" b="1" dirty="0">
                <a:solidFill>
                  <a:schemeClr val="dk1"/>
                </a:solidFill>
                <a:latin typeface="Times New Roman" panose="02020603050405020304" pitchFamily="18" charset="0"/>
                <a:cs typeface="Times New Roman" panose="02020603050405020304" pitchFamily="18" charset="0"/>
              </a:rPr>
              <a:t>(File Upload +UI</a:t>
            </a:r>
            <a:endParaRPr lang="en-US" dirty="0">
              <a:solidFill>
                <a:schemeClr val="dk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47C480F5-6CED-13E1-890D-4D2A99C87BB6}"/>
              </a:ext>
            </a:extLst>
          </p:cNvPr>
          <p:cNvSpPr/>
          <p:nvPr/>
        </p:nvSpPr>
        <p:spPr>
          <a:xfrm>
            <a:off x="3232150" y="2355972"/>
            <a:ext cx="3352800" cy="838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6" name="Rectangle 5">
            <a:extLst>
              <a:ext uri="{FF2B5EF4-FFF2-40B4-BE49-F238E27FC236}">
                <a16:creationId xmlns:a16="http://schemas.microsoft.com/office/drawing/2014/main" id="{E4C3ABA6-8CB4-B2C8-C410-904A7D6C55DE}"/>
              </a:ext>
            </a:extLst>
          </p:cNvPr>
          <p:cNvSpPr/>
          <p:nvPr/>
        </p:nvSpPr>
        <p:spPr>
          <a:xfrm>
            <a:off x="3248660" y="3575912"/>
            <a:ext cx="3352800" cy="838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solidFill>
                  <a:schemeClr val="dk1"/>
                </a:solidFill>
                <a:latin typeface="Times New Roman" panose="02020603050405020304" pitchFamily="18" charset="0"/>
                <a:cs typeface="Times New Roman" panose="02020603050405020304" pitchFamily="18" charset="0"/>
              </a:rPr>
              <a:t>AI Processed Data and </a:t>
            </a:r>
            <a:endParaRPr lang="en-IN" dirty="0">
              <a:solidFill>
                <a:schemeClr val="dk1"/>
              </a:solidFill>
              <a:latin typeface="Times New Roman" panose="02020603050405020304" pitchFamily="18" charset="0"/>
              <a:cs typeface="Times New Roman" panose="02020603050405020304" pitchFamily="18" charset="0"/>
            </a:endParaRPr>
          </a:p>
          <a:p>
            <a:pPr algn="ctr"/>
            <a:r>
              <a:rPr lang="en-IN" b="1" dirty="0">
                <a:solidFill>
                  <a:schemeClr val="dk1"/>
                </a:solidFill>
                <a:latin typeface="Times New Roman" panose="02020603050405020304" pitchFamily="18" charset="0"/>
                <a:cs typeface="Times New Roman" panose="02020603050405020304" pitchFamily="18" charset="0"/>
              </a:rPr>
              <a:t>Provide Suggestions</a:t>
            </a:r>
            <a:endParaRPr lang="en-IN" dirty="0">
              <a:solidFill>
                <a:schemeClr val="dk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20895A36-D59E-3E0A-7B78-98A2F8533AF9}"/>
              </a:ext>
            </a:extLst>
          </p:cNvPr>
          <p:cNvSpPr/>
          <p:nvPr/>
        </p:nvSpPr>
        <p:spPr>
          <a:xfrm>
            <a:off x="3249930" y="4734769"/>
            <a:ext cx="3352800" cy="838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dk1"/>
                </a:solidFill>
                <a:latin typeface="Times New Roman" panose="02020603050405020304" pitchFamily="18" charset="0"/>
                <a:cs typeface="Times New Roman" panose="02020603050405020304" pitchFamily="18" charset="0"/>
              </a:rPr>
              <a:t>Government Reporting </a:t>
            </a:r>
            <a:endParaRPr lang="en-US" dirty="0">
              <a:solidFill>
                <a:schemeClr val="dk1"/>
              </a:solidFill>
              <a:latin typeface="Times New Roman" panose="02020603050405020304" pitchFamily="18" charset="0"/>
              <a:cs typeface="Times New Roman" panose="02020603050405020304" pitchFamily="18" charset="0"/>
            </a:endParaRPr>
          </a:p>
          <a:p>
            <a:pPr algn="ctr"/>
            <a:r>
              <a:rPr lang="en-US" b="1" dirty="0">
                <a:solidFill>
                  <a:schemeClr val="dk1"/>
                </a:solidFill>
                <a:latin typeface="Times New Roman" panose="02020603050405020304" pitchFamily="18" charset="0"/>
                <a:cs typeface="Times New Roman" panose="02020603050405020304" pitchFamily="18" charset="0"/>
              </a:rPr>
              <a:t>Send Critical Emission Data</a:t>
            </a:r>
            <a:endParaRPr lang="en-US" dirty="0">
              <a:solidFill>
                <a:schemeClr val="dk1"/>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4C4BC06-5AF1-2B7B-0414-8B4970F2CFC5}"/>
              </a:ext>
            </a:extLst>
          </p:cNvPr>
          <p:cNvSpPr/>
          <p:nvPr/>
        </p:nvSpPr>
        <p:spPr>
          <a:xfrm>
            <a:off x="3232150" y="5968638"/>
            <a:ext cx="3352800" cy="838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chemeClr val="dk1"/>
              </a:solidFill>
              <a:latin typeface="+mn-lt"/>
              <a:ea typeface="+mn-ea"/>
              <a:cs typeface="+mn-cs"/>
            </a:endParaRPr>
          </a:p>
          <a:p>
            <a:pPr algn="ctr"/>
            <a:r>
              <a:rPr lang="en-US" b="1" dirty="0">
                <a:solidFill>
                  <a:schemeClr val="dk1"/>
                </a:solidFill>
                <a:latin typeface="+mn-lt"/>
                <a:ea typeface="+mn-ea"/>
                <a:cs typeface="+mn-cs"/>
              </a:rPr>
              <a:t>Display</a:t>
            </a:r>
            <a:r>
              <a:rPr lang="en-US" dirty="0"/>
              <a:t> </a:t>
            </a:r>
            <a:r>
              <a:rPr lang="en-US" b="1" dirty="0">
                <a:solidFill>
                  <a:schemeClr val="dk1"/>
                </a:solidFill>
                <a:latin typeface="+mn-lt"/>
                <a:ea typeface="+mn-ea"/>
                <a:cs typeface="+mn-cs"/>
              </a:rPr>
              <a:t>Dynamic Suggestions</a:t>
            </a:r>
            <a:endParaRPr lang="en-US" dirty="0">
              <a:solidFill>
                <a:schemeClr val="dk1"/>
              </a:solidFill>
              <a:latin typeface="+mn-lt"/>
              <a:ea typeface="+mn-ea"/>
              <a:cs typeface="+mn-cs"/>
            </a:endParaRPr>
          </a:p>
          <a:p>
            <a:pPr algn="ctr"/>
            <a:r>
              <a:rPr lang="en-US" b="1" dirty="0">
                <a:solidFill>
                  <a:schemeClr val="dk1"/>
                </a:solidFill>
                <a:latin typeface="+mn-lt"/>
                <a:ea typeface="+mn-ea"/>
                <a:cs typeface="+mn-cs"/>
              </a:rPr>
              <a:t>Product Criticality</a:t>
            </a:r>
            <a:endParaRPr lang="en-US" dirty="0">
              <a:solidFill>
                <a:schemeClr val="dk1"/>
              </a:solidFill>
              <a:latin typeface="+mn-lt"/>
              <a:ea typeface="+mn-ea"/>
              <a:cs typeface="+mn-cs"/>
            </a:endParaRPr>
          </a:p>
          <a:p>
            <a:pPr algn="ctr"/>
            <a:endParaRPr lang="en-IN" dirty="0"/>
          </a:p>
        </p:txBody>
      </p:sp>
      <p:sp>
        <p:nvSpPr>
          <p:cNvPr id="10" name="TextBox 9">
            <a:extLst>
              <a:ext uri="{FF2B5EF4-FFF2-40B4-BE49-F238E27FC236}">
                <a16:creationId xmlns:a16="http://schemas.microsoft.com/office/drawing/2014/main" id="{538928C3-D179-19FD-6033-BCC119EE65B2}"/>
              </a:ext>
            </a:extLst>
          </p:cNvPr>
          <p:cNvSpPr txBox="1"/>
          <p:nvPr/>
        </p:nvSpPr>
        <p:spPr>
          <a:xfrm>
            <a:off x="2360333" y="2414228"/>
            <a:ext cx="5096434" cy="518732"/>
          </a:xfrm>
          <a:prstGeom prst="rect">
            <a:avLst/>
          </a:prstGeom>
          <a:noFill/>
        </p:spPr>
        <p:txBody>
          <a:bodyPr wrap="square">
            <a:spAutoFit/>
          </a:bodyPr>
          <a:lstStyle/>
          <a:p>
            <a:pPr algn="ctr">
              <a:lnSpc>
                <a:spcPts val="3750"/>
              </a:lnSpc>
              <a:buNone/>
            </a:pPr>
            <a:r>
              <a:rPr lang="en-IN" b="1" i="0" dirty="0">
                <a:effectLst/>
                <a:latin typeface="Times New Roman" panose="02020603050405020304" pitchFamily="18" charset="0"/>
                <a:cs typeface="Times New Roman" panose="02020603050405020304" pitchFamily="18" charset="0"/>
              </a:rPr>
              <a:t>Python Flask</a:t>
            </a:r>
            <a:r>
              <a:rPr lang="en-IN" dirty="0">
                <a:latin typeface="Times New Roman" panose="02020603050405020304" pitchFamily="18" charset="0"/>
                <a:cs typeface="Times New Roman" panose="02020603050405020304" pitchFamily="18" charset="0"/>
              </a:rPr>
              <a:t> </a:t>
            </a:r>
            <a:r>
              <a:rPr lang="en-IN" b="1" i="0" dirty="0">
                <a:effectLst/>
                <a:latin typeface="Times New Roman" panose="02020603050405020304" pitchFamily="18" charset="0"/>
                <a:cs typeface="Times New Roman" panose="02020603050405020304" pitchFamily="18" charset="0"/>
              </a:rPr>
              <a:t>Backend</a:t>
            </a:r>
            <a:endParaRPr lang="en-IN" dirty="0">
              <a:effectLst/>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B6247BF6-3A4C-6DD5-55C8-63A8C8B8563C}"/>
              </a:ext>
            </a:extLst>
          </p:cNvPr>
          <p:cNvCxnSpPr>
            <a:stCxn id="4" idx="2"/>
            <a:endCxn id="5" idx="0"/>
          </p:cNvCxnSpPr>
          <p:nvPr/>
        </p:nvCxnSpPr>
        <p:spPr>
          <a:xfrm flipH="1">
            <a:off x="4908550" y="1994593"/>
            <a:ext cx="2540" cy="361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98C37862-AAC7-7565-BF39-4F4C08F1E622}"/>
              </a:ext>
            </a:extLst>
          </p:cNvPr>
          <p:cNvCxnSpPr/>
          <p:nvPr/>
        </p:nvCxnSpPr>
        <p:spPr>
          <a:xfrm flipH="1">
            <a:off x="4888230" y="3197696"/>
            <a:ext cx="2540" cy="361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4DBCA097-B155-BDE9-D66B-BF0CE5FD9255}"/>
              </a:ext>
            </a:extLst>
          </p:cNvPr>
          <p:cNvCxnSpPr/>
          <p:nvPr/>
        </p:nvCxnSpPr>
        <p:spPr>
          <a:xfrm flipH="1">
            <a:off x="4925060" y="4393751"/>
            <a:ext cx="2540" cy="361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346790C2-D5AD-EECE-4FA0-E52B1090611E}"/>
              </a:ext>
            </a:extLst>
          </p:cNvPr>
          <p:cNvCxnSpPr/>
          <p:nvPr/>
        </p:nvCxnSpPr>
        <p:spPr>
          <a:xfrm flipH="1">
            <a:off x="4966970" y="5572969"/>
            <a:ext cx="2540" cy="361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30363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5874" y="369188"/>
            <a:ext cx="4505452" cy="457200"/>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232410">
              <a:lnSpc>
                <a:spcPct val="100000"/>
              </a:lnSpc>
              <a:spcBef>
                <a:spcPts val="100"/>
              </a:spcBef>
            </a:pPr>
            <a:r>
              <a:rPr spc="-10" dirty="0"/>
              <a:t>ARCHITECTURE</a:t>
            </a:r>
            <a:r>
              <a:rPr spc="-55" dirty="0"/>
              <a:t> </a:t>
            </a:r>
            <a:r>
              <a:rPr spc="-10" dirty="0"/>
              <a:t>EXPLANATION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26974" y="319150"/>
            <a:ext cx="3180079" cy="590423"/>
          </a:xfrm>
          <a:prstGeom prst="rect">
            <a:avLst/>
          </a:prstGeom>
        </p:spPr>
      </p:pic>
      <p:sp>
        <p:nvSpPr>
          <p:cNvPr id="4" name="object 4"/>
          <p:cNvSpPr txBox="1">
            <a:spLocks noGrp="1"/>
          </p:cNvSpPr>
          <p:nvPr>
            <p:ph type="title"/>
          </p:nvPr>
        </p:nvSpPr>
        <p:spPr>
          <a:prstGeom prst="rect">
            <a:avLst/>
          </a:prstGeom>
        </p:spPr>
        <p:txBody>
          <a:bodyPr vert="horz" wrap="square" lIns="0" tIns="13335" rIns="0" bIns="0" rtlCol="0">
            <a:spAutoFit/>
          </a:bodyPr>
          <a:lstStyle/>
          <a:p>
            <a:pPr marL="400685">
              <a:lnSpc>
                <a:spcPct val="100000"/>
              </a:lnSpc>
              <a:spcBef>
                <a:spcPts val="105"/>
              </a:spcBef>
            </a:pPr>
            <a:r>
              <a:rPr dirty="0"/>
              <a:t>LIST</a:t>
            </a:r>
            <a:r>
              <a:rPr spc="-55" dirty="0"/>
              <a:t> </a:t>
            </a:r>
            <a:r>
              <a:rPr dirty="0"/>
              <a:t>OF</a:t>
            </a:r>
            <a:r>
              <a:rPr spc="-85" dirty="0"/>
              <a:t> </a:t>
            </a:r>
            <a:r>
              <a:rPr spc="-10" dirty="0"/>
              <a:t>MODULES</a:t>
            </a:r>
          </a:p>
        </p:txBody>
      </p:sp>
      <p:sp>
        <p:nvSpPr>
          <p:cNvPr id="6" name="TextBox 5">
            <a:extLst>
              <a:ext uri="{FF2B5EF4-FFF2-40B4-BE49-F238E27FC236}">
                <a16:creationId xmlns:a16="http://schemas.microsoft.com/office/drawing/2014/main" id="{7E4CF4F4-82CC-064F-AFEF-207E645A7739}"/>
              </a:ext>
            </a:extLst>
          </p:cNvPr>
          <p:cNvSpPr txBox="1"/>
          <p:nvPr/>
        </p:nvSpPr>
        <p:spPr>
          <a:xfrm>
            <a:off x="340258" y="1524000"/>
            <a:ext cx="9692742" cy="3970318"/>
          </a:xfrm>
          <a:prstGeom prst="rect">
            <a:avLst/>
          </a:prstGeom>
          <a:noFill/>
        </p:spPr>
        <p:txBody>
          <a:bodyPr wrap="square" rtlCol="0">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Upload Module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HTML, CSS, JavaScript, Python (Flask), Pandas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Processing Module (Carbon Calculation, Product Classification, Alternative Suggestions, Substitution Risk)</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Python (Flask), Gemini API</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 Display Module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HTML, CSS, JavaScript, Python (Flask, Jinja2 templates)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6001" y="367347"/>
            <a:ext cx="2992628" cy="578421"/>
          </a:xfrm>
          <a:prstGeom prst="rect">
            <a:avLst/>
          </a:prstGeom>
        </p:spPr>
      </p:pic>
      <p:sp>
        <p:nvSpPr>
          <p:cNvPr id="4" name="object 4"/>
          <p:cNvSpPr txBox="1">
            <a:spLocks noGrp="1"/>
          </p:cNvSpPr>
          <p:nvPr>
            <p:ph type="title"/>
          </p:nvPr>
        </p:nvSpPr>
        <p:spPr>
          <a:prstGeom prst="rect">
            <a:avLst/>
          </a:prstGeom>
        </p:spPr>
        <p:txBody>
          <a:bodyPr vert="horz" wrap="square" lIns="0" tIns="62992" rIns="0" bIns="0" rtlCol="0">
            <a:spAutoFit/>
          </a:bodyPr>
          <a:lstStyle/>
          <a:p>
            <a:pPr marL="541655">
              <a:lnSpc>
                <a:spcPct val="100000"/>
              </a:lnSpc>
              <a:spcBef>
                <a:spcPts val="100"/>
              </a:spcBef>
            </a:pPr>
            <a:r>
              <a:rPr spc="-10" dirty="0"/>
              <a:t>CONCLUSION</a:t>
            </a:r>
          </a:p>
        </p:txBody>
      </p:sp>
      <p:sp>
        <p:nvSpPr>
          <p:cNvPr id="3" name="TextBox 2">
            <a:extLst>
              <a:ext uri="{FF2B5EF4-FFF2-40B4-BE49-F238E27FC236}">
                <a16:creationId xmlns:a16="http://schemas.microsoft.com/office/drawing/2014/main" id="{388CC572-1B5D-28A3-423D-DB6F0E67F94D}"/>
              </a:ext>
            </a:extLst>
          </p:cNvPr>
          <p:cNvSpPr txBox="1"/>
          <p:nvPr/>
        </p:nvSpPr>
        <p:spPr>
          <a:xfrm>
            <a:off x="812800" y="1671320"/>
            <a:ext cx="8763000" cy="3385542"/>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The Carbon Emission Analyzer provides an end-to-end solution for businesses to monitor and manage the environmental impact of their products. By combining AI-driven suggestions, emission calculations, and substitution risk analysis, the system supports sustainable, data-driven decisions that reduce carbon footprints without compromising sales performance.</a:t>
            </a: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5988" y="367347"/>
            <a:ext cx="3474720" cy="578421"/>
          </a:xfrm>
          <a:prstGeom prst="rect">
            <a:avLst/>
          </a:prstGeom>
        </p:spPr>
      </p:pic>
      <p:sp>
        <p:nvSpPr>
          <p:cNvPr id="3" name="object 3"/>
          <p:cNvSpPr txBox="1">
            <a:spLocks noGrp="1"/>
          </p:cNvSpPr>
          <p:nvPr>
            <p:ph type="title"/>
          </p:nvPr>
        </p:nvSpPr>
        <p:spPr>
          <a:prstGeom prst="rect">
            <a:avLst/>
          </a:prstGeom>
        </p:spPr>
        <p:txBody>
          <a:bodyPr vert="horz" wrap="square" lIns="0" tIns="62992" rIns="0" bIns="0" rtlCol="0">
            <a:spAutoFit/>
          </a:bodyPr>
          <a:lstStyle/>
          <a:p>
            <a:pPr marL="98425">
              <a:lnSpc>
                <a:spcPct val="100000"/>
              </a:lnSpc>
              <a:spcBef>
                <a:spcPts val="100"/>
              </a:spcBef>
            </a:pPr>
            <a:r>
              <a:rPr dirty="0"/>
              <a:t>FUTURE</a:t>
            </a:r>
            <a:r>
              <a:rPr spc="-100" dirty="0"/>
              <a:t> </a:t>
            </a:r>
            <a:r>
              <a:rPr spc="-10" dirty="0"/>
              <a:t>ENHANCEMENT</a:t>
            </a:r>
          </a:p>
        </p:txBody>
      </p:sp>
      <p:sp>
        <p:nvSpPr>
          <p:cNvPr id="4" name="TextBox 3">
            <a:extLst>
              <a:ext uri="{FF2B5EF4-FFF2-40B4-BE49-F238E27FC236}">
                <a16:creationId xmlns:a16="http://schemas.microsoft.com/office/drawing/2014/main" id="{AC587176-51BA-A89D-1295-69D79D7A2812}"/>
              </a:ext>
            </a:extLst>
          </p:cNvPr>
          <p:cNvSpPr txBox="1"/>
          <p:nvPr/>
        </p:nvSpPr>
        <p:spPr>
          <a:xfrm>
            <a:off x="774700" y="1497712"/>
            <a:ext cx="8610600" cy="510909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Integrate real-time sales data from multiple sources.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Add interactive dashboards with charts and graphs.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Include automated supplier tracking for carbon audits.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Expand AI to suggest alternative products across multiple categories and companies.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Implement predictive analytics to forecast future emissions and risks.</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750519" y="1694434"/>
            <a:ext cx="8688070" cy="317587"/>
          </a:xfrm>
          <a:prstGeom prst="rect">
            <a:avLst/>
          </a:prstGeom>
        </p:spPr>
        <p:txBody>
          <a:bodyPr vert="horz" wrap="square" lIns="0" tIns="12700" rIns="0" bIns="0" rtlCol="0">
            <a:spAutoFit/>
          </a:bodyPr>
          <a:lstStyle/>
          <a:p>
            <a:pPr marL="441959" marR="7620" indent="-429895" algn="just">
              <a:lnSpc>
                <a:spcPct val="150000"/>
              </a:lnSpc>
              <a:spcBef>
                <a:spcPts val="100"/>
              </a:spcBef>
              <a:buSzPct val="213333"/>
              <a:buFont typeface="Arial MT"/>
              <a:buChar char="•"/>
              <a:tabLst>
                <a:tab pos="443865" algn="l"/>
              </a:tabLst>
            </a:pPr>
            <a:endParaRPr spc="-20" dirty="0"/>
          </a:p>
        </p:txBody>
      </p:sp>
      <p:pic>
        <p:nvPicPr>
          <p:cNvPr id="3" name="object 3"/>
          <p:cNvPicPr/>
          <p:nvPr/>
        </p:nvPicPr>
        <p:blipFill>
          <a:blip r:embed="rId2" cstate="print"/>
          <a:stretch>
            <a:fillRect/>
          </a:stretch>
        </p:blipFill>
        <p:spPr>
          <a:xfrm>
            <a:off x="329196" y="369188"/>
            <a:ext cx="2926080" cy="457200"/>
          </a:xfrm>
          <a:prstGeom prst="rect">
            <a:avLst/>
          </a:prstGeom>
        </p:spPr>
      </p:pic>
      <p:sp>
        <p:nvSpPr>
          <p:cNvPr id="4" name="object 4"/>
          <p:cNvSpPr txBox="1">
            <a:spLocks noGrp="1"/>
          </p:cNvSpPr>
          <p:nvPr>
            <p:ph type="title"/>
          </p:nvPr>
        </p:nvSpPr>
        <p:spPr>
          <a:prstGeom prst="rect">
            <a:avLst/>
          </a:prstGeom>
        </p:spPr>
        <p:txBody>
          <a:bodyPr vert="horz" wrap="square" lIns="0" tIns="12700" rIns="0" bIns="0" rtlCol="0">
            <a:spAutoFit/>
          </a:bodyPr>
          <a:lstStyle/>
          <a:p>
            <a:pPr marL="603885">
              <a:lnSpc>
                <a:spcPct val="100000"/>
              </a:lnSpc>
              <a:spcBef>
                <a:spcPts val="100"/>
              </a:spcBef>
            </a:pPr>
            <a:r>
              <a:rPr spc="-10" dirty="0"/>
              <a:t>REFERENCES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199</TotalTime>
  <Words>879</Words>
  <Application>Microsoft Office PowerPoint</Application>
  <PresentationFormat>Custom</PresentationFormat>
  <Paragraphs>91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Arial MT</vt:lpstr>
      <vt:lpstr>Times New Roman</vt:lpstr>
      <vt:lpstr>Office Theme</vt:lpstr>
      <vt:lpstr>PROJECT TITLE</vt:lpstr>
      <vt:lpstr>ABSTRACT</vt:lpstr>
      <vt:lpstr>INTRODUCTION</vt:lpstr>
      <vt:lpstr>OBJECTIVE</vt:lpstr>
      <vt:lpstr>PROBLEM STATEMENT</vt:lpstr>
      <vt:lpstr>SCOPE OF THE PROJECT</vt:lpstr>
      <vt:lpstr>LITERATURE SURVEY</vt:lpstr>
      <vt:lpstr>EXISTING SYSTEM</vt:lpstr>
      <vt:lpstr>DISADVANTAGES</vt:lpstr>
      <vt:lpstr>PROPOSED SYSTEM</vt:lpstr>
      <vt:lpstr>ADVANTAGES</vt:lpstr>
      <vt:lpstr>SYSTEM ARCHITECTURE</vt:lpstr>
      <vt:lpstr>ARCHITECTURE EXPLANATION</vt:lpstr>
      <vt:lpstr>LIST OF MODULES</vt:lpstr>
      <vt:lpstr>CONCLUSION</vt:lpstr>
      <vt:lpstr>FUTURE ENHANCEMENT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vikneshwari raju</dc:creator>
  <cp:lastModifiedBy>lokeshwaran lokeshAI</cp:lastModifiedBy>
  <cp:revision>9</cp:revision>
  <dcterms:created xsi:type="dcterms:W3CDTF">2026-01-24T07:08:23Z</dcterms:created>
  <dcterms:modified xsi:type="dcterms:W3CDTF">2026-01-26T11:04:11Z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2026-01-09T00:00:00Z</vt:filetime>
  </property>
  <property fmtid="{D5CDD505-2E9C-101B-9397-08002B2CF9AE}" pid="3" name="Creator">
    <vt:lpwstr>Microsoft® PowerPoint® LTSC</vt:lpwstr>
  </property>
  <property fmtid="{D5CDD505-2E9C-101B-9397-08002B2CF9AE}" pid="4" name="LastSaved">
    <vt:filetime>2026-01-24T00:00:00Z</vt:filetime>
  </property>
  <property fmtid="{D5CDD505-2E9C-101B-9397-08002B2CF9AE}" pid="5" name="Producer">
    <vt:lpwstr>Microsoft® PowerPoint® LTSC</vt:lpwstr>
  </property>
</Properties>
</file>